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6" r:id="rId5"/>
  </p:sldMasterIdLst>
  <p:notesMasterIdLst>
    <p:notesMasterId r:id="rId32"/>
  </p:notesMasterIdLst>
  <p:sldIdLst>
    <p:sldId id="256" r:id="rId6"/>
    <p:sldId id="273" r:id="rId7"/>
    <p:sldId id="271" r:id="rId8"/>
    <p:sldId id="272" r:id="rId9"/>
    <p:sldId id="277" r:id="rId10"/>
    <p:sldId id="275" r:id="rId11"/>
    <p:sldId id="274" r:id="rId12"/>
    <p:sldId id="289" r:id="rId13"/>
    <p:sldId id="276" r:id="rId14"/>
    <p:sldId id="284" r:id="rId15"/>
    <p:sldId id="288" r:id="rId16"/>
    <p:sldId id="286" r:id="rId17"/>
    <p:sldId id="291" r:id="rId18"/>
    <p:sldId id="280" r:id="rId19"/>
    <p:sldId id="259" r:id="rId20"/>
    <p:sldId id="287" r:id="rId21"/>
    <p:sldId id="269" r:id="rId22"/>
    <p:sldId id="257" r:id="rId23"/>
    <p:sldId id="260" r:id="rId24"/>
    <p:sldId id="270" r:id="rId25"/>
    <p:sldId id="279" r:id="rId26"/>
    <p:sldId id="282" r:id="rId27"/>
    <p:sldId id="283" r:id="rId28"/>
    <p:sldId id="285" r:id="rId29"/>
    <p:sldId id="290" r:id="rId30"/>
    <p:sldId id="26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8788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06" autoAdjust="0"/>
  </p:normalViewPr>
  <p:slideViewPr>
    <p:cSldViewPr snapToGrid="0">
      <p:cViewPr>
        <p:scale>
          <a:sx n="95" d="100"/>
          <a:sy n="95" d="100"/>
        </p:scale>
        <p:origin x="1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1.3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3455 2219,'-55'0,"-71"1,0-5,-146-24,23-8,-478-7,-258 43,448 1,519 0,9-1,1 1,0-1,0-1,0 0,0 0,-16-4,24 5,0 0,-1-1,1 1,-1 0,1 0,0-1,-1 1,1 0,0-1,-1 1,1 0,0-1,0 1,-1-1,1 1,0 0,0-1,0 1,0-1,-1 1,1-1,0 1,0 0,0-1,0 1,0-1,0 1,0-1,0 1,0-1,0 1,0-1,1 1,-1 0,0-1,0 1,0-1,1 1,-1 0,0-1,0 1,1-1,-1 1,0 0,1-1,-1 1,0 0,1 0,-1-1,0 1,2 0,23-19,28-10,1 2,113-37,122-15,-183 58,2 3,0 6,116 1,-10 14,129-2,-270-4,1-4,115-27,-118 18,92-26,-137 34,-1-2,0 0,-1-1,25-17,-43 24,0 0,0 0,-1-1,1 0,-1 0,0-1,0 1,4-8,-8 11,0 1,0-1,0 0,-1 0,1 1,0-1,-1 0,1 0,-1 0,0 0,1 0,-1 0,0 0,0 0,0 1,-1-1,1 0,0 0,-1 0,1 0,-1 0,0 0,1 1,-1-1,0 0,0 0,0 1,0-1,-1 1,1-1,0 1,-1 0,1-1,-1 1,-1-1,-7-5,1 1,-1 0,-1 1,1 0,-1 1,-14-4,-73-14,57 13,-119-20,-308-15,-169 41,316 7,-477-5,789 2,1-2,-1 1,0-1,0 0,1-1,-1 0,0-1,-9-4,15 6,1 0,-1-1,0 0,1 0,-1 0,1 0,0 0,0 0,0 0,0-1,0 1,0-1,1 1,-1-1,1 0,0 0,-1 0,1 0,1 0,-1 0,0 0,1 0,-1 0,1 0,0 0,0 0,1-3,0-4,0 1,1 0,1 0,-1 0,2 0,-1 1,1-1,6-10,49-67,-29 45,281-374,-277 372,-2-1,44-81,-57 94,0 1,2 2,1 0,2 1,0 1,2 2,41-32,-46 42,1 1,1 1,0 1,0 1,1 1,1 1,-1 1,1 2,30-4,35 0,110 3,-157 5,660 2,-623-5,-1-3,105-24,-23 3,-158 28,125-14,-148 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2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386 1,'-9'0,"-7"0,-6 0,-9 0,-8 0,-1 0,1 0,-3 0,2 0,4 0,6 4,10 7,8 10,5 6,5 17,2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3.0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0,'0'5,"0"6,-4 1,-2 3,-14 4,-7-2,0 2,5 1,6-3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3.8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788 1,'0'6,"-1"0,0-1,0 1,-1 0,0-1,0 1,0-1,-1 1,1-1,-1 0,0 0,-1 0,1-1,-1 1,0-1,0 0,-1 0,-5 4,-11 8,-1-1,-40 21,57-34,-255 129,225-114,0-1,-2-1,0-3,0-1,-40 7,2-2,47-6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5.0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786 2,'-144'-2,"-171"6,276 1,1 2,-1 2,-37 13,-30 8,78-24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5.8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539 0,'-5'5,"-5"1,-7 0,-13-2,-7 0,-6 2,-5 1,-13 4,0 0,5 2,4 0,5 1,6-1,11-3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6.6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458 0,'0'5,"-4"1,-12 0,-6-2,-10 0,-3-2,-1-1,-3-1,-9 0,4 5,0 1,3 0,4-2,4 0,7-2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8.5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357 11,'-9'0,"-8"0,-6 0,-3 0,-6 0,-3 0,0 0,2 0,1 0,3 0,-5 0,5-5,7-1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39.1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40.1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357 1,'-4'0,"-11"0,-8 4,-4 2,-6 0,-8 8,-5 1,0-1,3-4,0-3,8-2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40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165 55,'0'-5,"-4"-1,-7 0,-1-3,-8 0,-5 1,-3 2,-6 2,3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41.2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0 157,'0'-5,"0"-10,0-13,0-5,0-7,0 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7:32:41.8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24.5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1244 58,'-5'-5,"-1"0,-1 0,1 1,0 0,-1 0,0 1,0 0,0 0,0 1,-1 0,-10-2,-12-1,-44-1,-323 3,196 6,-227-3,405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27.6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1145 1,'-20'1,"1"1,-27 5,6 0,22-4,-323 41,-4-25,265-20,-101 1,151 4,6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32.2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1,'11'1,"-1"0,0 1,1 0,-1 1,0 1,18 8,-14-6,0-1,26 7,16-6,0-1,100-7,-63 0,185 16,1-1,597-14,-810-3,-32-2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33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34,'1724'0,"-1686"-1,0-1,-1-3,41-8,-34 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44:39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6,'223'9,"54"4,69 1,100 0,727-14,-1147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38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56,'1519'0,"-1474"-2,55-10,-45 5,36-7,72-5,-129 18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48.80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0,'141'0,"650"16,-338-4,-428-12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50.29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0,'0'0,"0"1,-1-1,1 0,0 0,-1 0,1 1,0-1,0 0,-1 0,1 1,0-1,0 0,0 1,-1-1,1 0,0 1,0-1,0 0,0 1,0-1,0 0,-1 1,1-1,0 0,0 1,0-1,0 0,0 1,0-1,1 0,-1 1,0-1,0 0,0 1,0-1,0 0,0 1,1-1,-1 0,0 1,0-1,0 0,1 0,-1 1,0-1,1 0,-1 0,0 1,0-1,1 0,-1 0,1 0,23 6,351 3,-241-11,360 1,-483 1,1 1,-1 1,0-1,0 2,0-1,0 2,12 4,4 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51.66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783 31,'0'-1,"-1"0,1 0,0 0,-1 0,1 1,-1-1,1 0,-1 0,1 0,-1 0,0 0,1 1,-1-1,0 0,0 1,1-1,-1 0,0 1,0-1,0 1,0-1,0 1,0 0,0-1,0 1,0 0,0 0,-1-1,-34-3,31 3,-395-4,220 8,68-3,84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5:54.21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2054 50,'-54'0,"1"-1,0-3,-62-12,74 6,0 3,0 2,0 1,-1 2,-68 5,-447 16,532-19,3 2,1 0,-1 2,1 0,0 2,0 0,-22 10,16-5,0-2,-54 10,17-14,-127-6,72-2,-57 3,152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26:00.91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1 109,'24'-1,"0"-2,1 0,44-14,26-4,92 4,16-2,-53 2,254 6,-384 11,46 0,-1 3,66 11,-80-7,71 0,-71-5,68 10,-92-7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1:26:02.63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 0,'865'-27'0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43:35.05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4675 36,'-1'-1,"1"0,0 0,0 0,-1 0,1 0,-1 0,1 1,0-1,-1 0,0 0,1 0,-1 1,1-1,-1 0,0 1,0-1,1 0,-1 1,0-1,0 1,0-1,0 1,1 0,-1-1,0 1,0 0,-2-1,-29-5,26 6,-104-9,-163 8,130 3,-657 18,-88-5,579-17,250 5,-75 13,43-4,-82 17,-12 0,-96 22,2 0,197-43,-351 23,94-32,301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43:48.59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2158 63,'-120'1,"-134"-2,232-2,0 0,1-2,0 0,-28-11,33 10,-1 0,1 1,-1 1,0 0,0 2,0 0,-1 1,-21 1,-82 18,62-8,-117 4,-511-15,644-1,-43-7,-41-3,-30 13,139-1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43:52.23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3012 23,'-1179'0,"1156"1,-44 9,-12 0,-87 3,51-4,74-7,-49 8,46-5,-1-2,1-2,0-1,-68-11,-62-1,31 14,-160-3,269-3,0-2,0 0,0-3,-45-17,65 22,1 1,-1 1,0 0,1 0,-24 1,14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16:18:32.4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961 0,'-912'0,"864"0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10.27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1031 0,'-1009'0,"988"0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11.30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1011 82,'-578'-16,"542"14,-31-1,-81-14,-5-8,134 16,10-1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12.439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1189 79,'-449'-13,"-61"5,416 8,80 0,1 0,-1-1,-15-3,25 3,0 0,1 0,-1 0,0 0,1-1,0 0,-1 1,1-1,0 0,0-1,0 1,0-1,0 1,1-1,-1 0,-2-3,-4-10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13.82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1069 0,'-34'3,"0"1,0 1,1 2,0 1,-39 16,-60 14,55-24,0-2,-125 2,177-12,0 0,1 2,-33 9,32-6,1-2,-1-1,-32 2,2-6,31-1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17.30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1228 23,'-2'-2,"-1"1,0-1,0 1,0 0,0 0,0 0,0 0,0 1,0-1,0 1,0-1,-5 1,-2-1,-426-9,286 12,-416-2,543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18.23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1040 2,'-254'-2,"-274"5,304 16,190-17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20.76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1395 0,'-934'0,"739"11,-12 0,166-12,23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21.98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1318 0,'0'1,"0"0,-1 0,1 0,-1-1,1 1,-1 0,1 0,-1 0,1-1,-1 1,1 0,-1-1,0 1,0-1,1 1,-1-1,0 1,0-1,0 1,1-1,-1 0,0 1,0-1,0 0,0 0,0 0,0 1,-1-1,-33 3,28-3,-207 5,-18 1,-383 23,594-28,-14 1,0-1,-37-4,42-1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27.74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870 17,'-796'0,"789"0,1 0,-1 0,1-1,0 0,-1 0,-8-3,-5-5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28.99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804 1,'-114'0,"-192"23,211-12,-175-2,251-9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30.19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1052 18,'-307'-13,"166"8,-146 14,-7 1,271-10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6T21:59:31.57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1205 0,'0'1,"-1"0,1-1,0 1,-1 0,1 0,-1-1,1 1,-1-1,0 1,1 0,-1-1,0 1,1-1,-1 1,0-1,1 0,-1 1,0-1,0 0,0 1,1-1,-1 0,0 0,0 0,-1 0,-27 4,24-4,-116 6,72-5,-72 10,31 3,0-5,-114-1,161-6,1 1,-58 13,58-8,-1-2,-64 2,24-10,66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5F3D1-B0F9-42A3-AC9E-6D1279A80B4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945DB-37A5-4CBC-909D-CAF25B280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2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/>
              <a:t>Intro:o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945DB-37A5-4CBC-909D-CAF25B2806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15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945DB-37A5-4CBC-909D-CAF25B2806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3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is the solution for our target subset.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945DB-37A5-4CBC-909D-CAF25B2806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6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full solution looks like this. We can see that a number of routes are being cancelled.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945DB-37A5-4CBC-909D-CAF25B2806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32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4DE1-3C9C-87F5-C9C0-286925D3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FBEC-7BD6-9609-A0AB-8C72D255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B5AAF-A7A5-7DD8-4FC1-A9B3CAAFE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is the solution for our target subset.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1DBEA-2F5A-B577-F0CD-282FF5E82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945DB-37A5-4CBC-909D-CAF25B2806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2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352733"/>
            <a:ext cx="7469600" cy="29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421300"/>
            <a:ext cx="7469600" cy="9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067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054800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" name="Google Shape;12;p2"/>
          <p:cNvGrpSpPr/>
          <p:nvPr/>
        </p:nvGrpSpPr>
        <p:grpSpPr>
          <a:xfrm>
            <a:off x="-73833" y="719333"/>
            <a:ext cx="12265800" cy="6138667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359685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016100" y="2715067"/>
            <a:ext cx="6593200" cy="1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56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016100" y="1350000"/>
            <a:ext cx="1434800" cy="116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016100" y="4764367"/>
            <a:ext cx="65932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067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1054800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1" name="Google Shape;21;p3"/>
          <p:cNvCxnSpPr/>
          <p:nvPr/>
        </p:nvCxnSpPr>
        <p:spPr>
          <a:xfrm>
            <a:off x="5697600" y="6501367"/>
            <a:ext cx="64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25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951000" y="1622733"/>
            <a:ext cx="102900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12192000" cy="35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" name="Google Shape;26;p4"/>
          <p:cNvGrpSpPr/>
          <p:nvPr/>
        </p:nvGrpSpPr>
        <p:grpSpPr>
          <a:xfrm>
            <a:off x="200" y="1"/>
            <a:ext cx="11813400" cy="6501367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9216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3939563" y="2703968"/>
            <a:ext cx="57496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3939563" y="2025900"/>
            <a:ext cx="5749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3939532" y="4826000"/>
            <a:ext cx="57496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3939532" y="4147932"/>
            <a:ext cx="5749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37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11819767" y="0"/>
            <a:ext cx="0" cy="5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2612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950967" y="692100"/>
            <a:ext cx="3719600" cy="26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950967" y="3411841"/>
            <a:ext cx="3719600" cy="1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7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7"/>
          <p:cNvSpPr/>
          <p:nvPr/>
        </p:nvSpPr>
        <p:spPr>
          <a:xfrm>
            <a:off x="0" y="0"/>
            <a:ext cx="37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" y="-400"/>
            <a:ext cx="5083033" cy="6145167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1727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486400" y="1625367"/>
            <a:ext cx="7219200" cy="30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 flipH="1">
            <a:off x="-73833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73600" y="719333"/>
            <a:ext cx="12265600" cy="6138667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9314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617200" y="1106381"/>
            <a:ext cx="6957600" cy="17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2617200" y="3043619"/>
            <a:ext cx="6957600" cy="27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067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100" y="5902267"/>
            <a:ext cx="12192000" cy="94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2" name="Google Shape;62;p9"/>
          <p:cNvGrpSpPr/>
          <p:nvPr/>
        </p:nvGrpSpPr>
        <p:grpSpPr>
          <a:xfrm>
            <a:off x="950267" y="719333"/>
            <a:ext cx="11241733" cy="6138667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5303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950967" y="5262500"/>
            <a:ext cx="10290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408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 hasCustomPrompt="1"/>
          </p:nvPr>
        </p:nvSpPr>
        <p:spPr>
          <a:xfrm>
            <a:off x="2139200" y="1806077"/>
            <a:ext cx="7913600" cy="2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9866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>
            <a:off x="2139200" y="4265523"/>
            <a:ext cx="7913600" cy="7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 rot="10800000">
            <a:off x="-73833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73766" y="0"/>
            <a:ext cx="12265767" cy="6138667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1235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960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2581467" y="2839136"/>
            <a:ext cx="30516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2581467" y="1827033"/>
            <a:ext cx="3051600" cy="10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1324800" y="1977867"/>
            <a:ext cx="1168400" cy="153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5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2581467" y="5102900"/>
            <a:ext cx="30516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2581467" y="4090933"/>
            <a:ext cx="3051600" cy="10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1324800" y="4239616"/>
            <a:ext cx="1168400" cy="153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5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7959427" y="2839136"/>
            <a:ext cx="30516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7959427" y="1827033"/>
            <a:ext cx="3051600" cy="10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6711707" y="1977867"/>
            <a:ext cx="1168400" cy="153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5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7959427" y="5102900"/>
            <a:ext cx="30516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7959427" y="4090933"/>
            <a:ext cx="3051600" cy="10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711707" y="4239616"/>
            <a:ext cx="1168400" cy="153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5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12002800" y="-133"/>
            <a:ext cx="0" cy="353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46701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1044200" y="5226900"/>
            <a:ext cx="10103600" cy="7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1044200" y="2296499"/>
            <a:ext cx="10103600" cy="282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133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100" y="6501367"/>
            <a:ext cx="110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41629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flipH="1">
            <a:off x="2737100" y="2715067"/>
            <a:ext cx="7438800" cy="19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5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8741100" y="1350000"/>
            <a:ext cx="1434800" cy="116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 flipH="1">
            <a:off x="2737100" y="4764367"/>
            <a:ext cx="7438800" cy="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067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6501367"/>
            <a:ext cx="64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61793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950967" y="4776636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2100137"/>
            <a:ext cx="3200400" cy="106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3"/>
          </p:nvPr>
        </p:nvSpPr>
        <p:spPr>
          <a:xfrm>
            <a:off x="950967" y="3539433"/>
            <a:ext cx="32004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4"/>
          </p:nvPr>
        </p:nvSpPr>
        <p:spPr>
          <a:xfrm>
            <a:off x="8040633" y="4776636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 idx="5" hasCustomPrompt="1"/>
          </p:nvPr>
        </p:nvSpPr>
        <p:spPr>
          <a:xfrm>
            <a:off x="8040633" y="2100137"/>
            <a:ext cx="3200400" cy="106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>
            <a:spLocks noGrp="1"/>
          </p:cNvSpPr>
          <p:nvPr>
            <p:ph type="subTitle" idx="6"/>
          </p:nvPr>
        </p:nvSpPr>
        <p:spPr>
          <a:xfrm>
            <a:off x="8040633" y="3539433"/>
            <a:ext cx="32004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7"/>
          </p:nvPr>
        </p:nvSpPr>
        <p:spPr>
          <a:xfrm>
            <a:off x="4495800" y="4776636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 idx="8" hasCustomPrompt="1"/>
          </p:nvPr>
        </p:nvSpPr>
        <p:spPr>
          <a:xfrm>
            <a:off x="4495800" y="2100137"/>
            <a:ext cx="3200400" cy="106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>
            <a:spLocks noGrp="1"/>
          </p:cNvSpPr>
          <p:nvPr>
            <p:ph type="subTitle" idx="9"/>
          </p:nvPr>
        </p:nvSpPr>
        <p:spPr>
          <a:xfrm>
            <a:off x="4495800" y="3539433"/>
            <a:ext cx="32004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3" name="Google Shape;113;p16"/>
          <p:cNvCxnSpPr/>
          <p:nvPr/>
        </p:nvCxnSpPr>
        <p:spPr>
          <a:xfrm rot="10800000">
            <a:off x="6714400" y="6396767"/>
            <a:ext cx="5477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33366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3161200" y="1704167"/>
            <a:ext cx="58696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 hasCustomPrompt="1"/>
          </p:nvPr>
        </p:nvSpPr>
        <p:spPr>
          <a:xfrm>
            <a:off x="3161200" y="763767"/>
            <a:ext cx="58696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2"/>
          </p:nvPr>
        </p:nvSpPr>
        <p:spPr>
          <a:xfrm>
            <a:off x="3161200" y="5450500"/>
            <a:ext cx="58696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 idx="3" hasCustomPrompt="1"/>
          </p:nvPr>
        </p:nvSpPr>
        <p:spPr>
          <a:xfrm>
            <a:off x="3161200" y="4510100"/>
            <a:ext cx="58696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4"/>
          </p:nvPr>
        </p:nvSpPr>
        <p:spPr>
          <a:xfrm>
            <a:off x="3161200" y="3577333"/>
            <a:ext cx="58696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 idx="5" hasCustomPrompt="1"/>
          </p:nvPr>
        </p:nvSpPr>
        <p:spPr>
          <a:xfrm>
            <a:off x="3161200" y="2636933"/>
            <a:ext cx="58696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948334" y="-166"/>
            <a:ext cx="10292700" cy="6858167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92771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 flipH="1">
            <a:off x="0" y="6501367"/>
            <a:ext cx="12192000" cy="3568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9405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31" name="Google Shape;131;p19"/>
          <p:cNvCxnSpPr/>
          <p:nvPr/>
        </p:nvCxnSpPr>
        <p:spPr>
          <a:xfrm>
            <a:off x="0" y="349867"/>
            <a:ext cx="304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48032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1" y="0"/>
            <a:ext cx="12192100" cy="68580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5442967" y="725700"/>
            <a:ext cx="5632400" cy="16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5442867" y="2330500"/>
            <a:ext cx="5632400" cy="34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067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24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201" y="719333"/>
            <a:ext cx="11240833" cy="6138667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1" name="Google Shape;141;p20"/>
          <p:cNvSpPr>
            <a:spLocks noGrp="1"/>
          </p:cNvSpPr>
          <p:nvPr>
            <p:ph type="pic" idx="2"/>
          </p:nvPr>
        </p:nvSpPr>
        <p:spPr>
          <a:xfrm>
            <a:off x="789433" y="725700"/>
            <a:ext cx="4416000" cy="517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97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2254800" y="2345733"/>
            <a:ext cx="7682400" cy="27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0" y="6501200"/>
            <a:ext cx="12192000" cy="35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369100" y="356634"/>
            <a:ext cx="11813600" cy="6501367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33885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1264433" y="1580749"/>
            <a:ext cx="6484400" cy="10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1264433" y="2816051"/>
            <a:ext cx="6484400" cy="2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 rot="10800000" flipH="1">
            <a:off x="11054800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3" name="Google Shape;153;p22"/>
          <p:cNvGrpSpPr/>
          <p:nvPr/>
        </p:nvGrpSpPr>
        <p:grpSpPr>
          <a:xfrm rot="10800000" flipH="1">
            <a:off x="-73834" y="0"/>
            <a:ext cx="12265667" cy="6138667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308011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1682900" y="1364803"/>
            <a:ext cx="3854000" cy="22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1"/>
          </p:nvPr>
        </p:nvSpPr>
        <p:spPr>
          <a:xfrm>
            <a:off x="1682900" y="3603029"/>
            <a:ext cx="3854000" cy="1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 rot="10800000">
            <a:off x="167" y="0"/>
            <a:ext cx="955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1" name="Google Shape;161;p23"/>
          <p:cNvGrpSpPr/>
          <p:nvPr/>
        </p:nvGrpSpPr>
        <p:grpSpPr>
          <a:xfrm rot="10800000">
            <a:off x="0" y="484133"/>
            <a:ext cx="11813600" cy="6373867"/>
            <a:chOff x="283800" y="0"/>
            <a:chExt cx="8860200" cy="4780400"/>
          </a:xfrm>
        </p:grpSpPr>
        <p:cxnSp>
          <p:nvCxnSpPr>
            <p:cNvPr id="162" name="Google Shape;162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824222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6329067" y="1364800"/>
            <a:ext cx="3506800" cy="20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1"/>
          </p:nvPr>
        </p:nvSpPr>
        <p:spPr>
          <a:xfrm>
            <a:off x="6329067" y="3393407"/>
            <a:ext cx="3506800" cy="2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67" name="Google Shape;167;p24"/>
          <p:cNvGrpSpPr/>
          <p:nvPr/>
        </p:nvGrpSpPr>
        <p:grpSpPr>
          <a:xfrm flipH="1">
            <a:off x="1" y="0"/>
            <a:ext cx="12192100" cy="6858000"/>
            <a:chOff x="0" y="0"/>
            <a:chExt cx="9144075" cy="5143500"/>
          </a:xfrm>
        </p:grpSpPr>
        <p:grpSp>
          <p:nvGrpSpPr>
            <p:cNvPr id="168" name="Google Shape;168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9" name="Google Shape;169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71" name="Google Shape;171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2" name="Google Shape;172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173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766640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950967" y="2243833"/>
            <a:ext cx="5041200" cy="3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Chivo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7" name="Google Shape;177;p25"/>
          <p:cNvSpPr txBox="1">
            <a:spLocks noGrp="1"/>
          </p:cNvSpPr>
          <p:nvPr>
            <p:ph type="body" idx="2"/>
          </p:nvPr>
        </p:nvSpPr>
        <p:spPr>
          <a:xfrm>
            <a:off x="6201767" y="2243833"/>
            <a:ext cx="5041200" cy="3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Chivo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3"/>
          </p:nvPr>
        </p:nvSpPr>
        <p:spPr>
          <a:xfrm>
            <a:off x="951000" y="1622733"/>
            <a:ext cx="102900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 flipH="1">
            <a:off x="951200" y="6501367"/>
            <a:ext cx="11240800" cy="35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378400" y="-5466"/>
            <a:ext cx="11435200" cy="6863500"/>
            <a:chOff x="283800" y="-4100"/>
            <a:chExt cx="8576400" cy="5147625"/>
          </a:xfrm>
        </p:grpSpPr>
        <p:cxnSp>
          <p:nvCxnSpPr>
            <p:cNvPr id="181" name="Google Shape;181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8086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1"/>
          </p:nvPr>
        </p:nvSpPr>
        <p:spPr>
          <a:xfrm>
            <a:off x="1475833" y="2619333"/>
            <a:ext cx="4267200" cy="2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2"/>
          </p:nvPr>
        </p:nvSpPr>
        <p:spPr>
          <a:xfrm>
            <a:off x="6448967" y="2619333"/>
            <a:ext cx="4267200" cy="2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 rot="10800000">
            <a:off x="11813600" y="-35"/>
            <a:ext cx="37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66" y="356600"/>
            <a:ext cx="12002967" cy="650140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924536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ubTitle" idx="1"/>
          </p:nvPr>
        </p:nvSpPr>
        <p:spPr>
          <a:xfrm>
            <a:off x="951017" y="4542036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2"/>
          </p:nvPr>
        </p:nvSpPr>
        <p:spPr>
          <a:xfrm>
            <a:off x="951017" y="3713833"/>
            <a:ext cx="3200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3"/>
          </p:nvPr>
        </p:nvSpPr>
        <p:spPr>
          <a:xfrm>
            <a:off x="8040584" y="4542036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4"/>
          </p:nvPr>
        </p:nvSpPr>
        <p:spPr>
          <a:xfrm>
            <a:off x="8040584" y="3709867"/>
            <a:ext cx="3200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5"/>
          </p:nvPr>
        </p:nvSpPr>
        <p:spPr>
          <a:xfrm>
            <a:off x="4495800" y="4542036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subTitle" idx="6"/>
          </p:nvPr>
        </p:nvSpPr>
        <p:spPr>
          <a:xfrm>
            <a:off x="4495800" y="3709867"/>
            <a:ext cx="3200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2152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1"/>
          </p:nvPr>
        </p:nvSpPr>
        <p:spPr>
          <a:xfrm>
            <a:off x="1154167" y="4925636"/>
            <a:ext cx="30168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2"/>
          </p:nvPr>
        </p:nvSpPr>
        <p:spPr>
          <a:xfrm>
            <a:off x="1154167" y="4138633"/>
            <a:ext cx="30168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3"/>
          </p:nvPr>
        </p:nvSpPr>
        <p:spPr>
          <a:xfrm>
            <a:off x="8021033" y="4925636"/>
            <a:ext cx="30168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4"/>
          </p:nvPr>
        </p:nvSpPr>
        <p:spPr>
          <a:xfrm>
            <a:off x="8021033" y="4138633"/>
            <a:ext cx="30168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subTitle" idx="5"/>
          </p:nvPr>
        </p:nvSpPr>
        <p:spPr>
          <a:xfrm>
            <a:off x="4587600" y="4925636"/>
            <a:ext cx="30168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6"/>
          </p:nvPr>
        </p:nvSpPr>
        <p:spPr>
          <a:xfrm>
            <a:off x="4587600" y="4138633"/>
            <a:ext cx="30168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0" y="6501367"/>
            <a:ext cx="12192000" cy="35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378400" y="-64"/>
            <a:ext cx="11813600" cy="6679831"/>
            <a:chOff x="283800" y="-48"/>
            <a:chExt cx="8860200" cy="5009873"/>
          </a:xfrm>
        </p:grpSpPr>
        <p:cxnSp>
          <p:nvCxnSpPr>
            <p:cNvPr id="209" name="Google Shape;209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21894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subTitle" idx="1"/>
          </p:nvPr>
        </p:nvSpPr>
        <p:spPr>
          <a:xfrm>
            <a:off x="2503000" y="2466669"/>
            <a:ext cx="30916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subTitle" idx="2"/>
          </p:nvPr>
        </p:nvSpPr>
        <p:spPr>
          <a:xfrm>
            <a:off x="2503000" y="1833600"/>
            <a:ext cx="3091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3"/>
          </p:nvPr>
        </p:nvSpPr>
        <p:spPr>
          <a:xfrm>
            <a:off x="2503000" y="4687468"/>
            <a:ext cx="30916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4"/>
          </p:nvPr>
        </p:nvSpPr>
        <p:spPr>
          <a:xfrm>
            <a:off x="2503000" y="4054399"/>
            <a:ext cx="3091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5"/>
          </p:nvPr>
        </p:nvSpPr>
        <p:spPr>
          <a:xfrm>
            <a:off x="8149433" y="2466669"/>
            <a:ext cx="30916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subTitle" idx="6"/>
          </p:nvPr>
        </p:nvSpPr>
        <p:spPr>
          <a:xfrm>
            <a:off x="8149433" y="1833600"/>
            <a:ext cx="3091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7"/>
          </p:nvPr>
        </p:nvSpPr>
        <p:spPr>
          <a:xfrm>
            <a:off x="8149433" y="4687468"/>
            <a:ext cx="30916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8"/>
          </p:nvPr>
        </p:nvSpPr>
        <p:spPr>
          <a:xfrm>
            <a:off x="8149433" y="4054399"/>
            <a:ext cx="30916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 flipH="1">
            <a:off x="11813600" y="0"/>
            <a:ext cx="37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12002800" y="-35"/>
            <a:ext cx="0" cy="527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219477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951000" y="4687468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951000" y="4054399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8040600" y="4687468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8040600" y="4054399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4495800" y="4687468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4495800" y="4054399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7"/>
          </p:nvPr>
        </p:nvSpPr>
        <p:spPr>
          <a:xfrm>
            <a:off x="2723375" y="2466669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ubTitle" idx="8"/>
          </p:nvPr>
        </p:nvSpPr>
        <p:spPr>
          <a:xfrm>
            <a:off x="2723375" y="1833600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subTitle" idx="9"/>
          </p:nvPr>
        </p:nvSpPr>
        <p:spPr>
          <a:xfrm>
            <a:off x="6268225" y="2466669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13"/>
          </p:nvPr>
        </p:nvSpPr>
        <p:spPr>
          <a:xfrm>
            <a:off x="6268225" y="1833600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6501367"/>
            <a:ext cx="11240800" cy="35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378400" y="-5466"/>
            <a:ext cx="11435200" cy="6863500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60036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1"/>
          </p:nvPr>
        </p:nvSpPr>
        <p:spPr>
          <a:xfrm>
            <a:off x="950992" y="4687468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2"/>
          </p:nvPr>
        </p:nvSpPr>
        <p:spPr>
          <a:xfrm>
            <a:off x="950992" y="4054399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3"/>
          </p:nvPr>
        </p:nvSpPr>
        <p:spPr>
          <a:xfrm>
            <a:off x="8040608" y="4687468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4"/>
          </p:nvPr>
        </p:nvSpPr>
        <p:spPr>
          <a:xfrm>
            <a:off x="8040608" y="4054399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5"/>
          </p:nvPr>
        </p:nvSpPr>
        <p:spPr>
          <a:xfrm>
            <a:off x="4495800" y="4687468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6"/>
          </p:nvPr>
        </p:nvSpPr>
        <p:spPr>
          <a:xfrm>
            <a:off x="4495800" y="4054399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7"/>
          </p:nvPr>
        </p:nvSpPr>
        <p:spPr>
          <a:xfrm>
            <a:off x="950992" y="2466669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8"/>
          </p:nvPr>
        </p:nvSpPr>
        <p:spPr>
          <a:xfrm>
            <a:off x="950992" y="1833600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9"/>
          </p:nvPr>
        </p:nvSpPr>
        <p:spPr>
          <a:xfrm>
            <a:off x="4495800" y="2466669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13"/>
          </p:nvPr>
        </p:nvSpPr>
        <p:spPr>
          <a:xfrm>
            <a:off x="4495800" y="1833600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14"/>
          </p:nvPr>
        </p:nvSpPr>
        <p:spPr>
          <a:xfrm>
            <a:off x="8040608" y="2466669"/>
            <a:ext cx="32004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15"/>
          </p:nvPr>
        </p:nvSpPr>
        <p:spPr>
          <a:xfrm>
            <a:off x="8040608" y="1833600"/>
            <a:ext cx="3200400" cy="69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933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 rot="10800000" flipH="1">
            <a:off x="33" y="-35"/>
            <a:ext cx="37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4" name="Google Shape;254;p31"/>
          <p:cNvGrpSpPr/>
          <p:nvPr/>
        </p:nvGrpSpPr>
        <p:grpSpPr>
          <a:xfrm rot="10800000" flipH="1">
            <a:off x="189233" y="356600"/>
            <a:ext cx="12002600" cy="650140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0889297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>
            <a:spLocks noGrp="1"/>
          </p:cNvSpPr>
          <p:nvPr>
            <p:ph type="title"/>
          </p:nvPr>
        </p:nvSpPr>
        <p:spPr>
          <a:xfrm>
            <a:off x="3539600" y="707000"/>
            <a:ext cx="51128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1"/>
          </p:nvPr>
        </p:nvSpPr>
        <p:spPr>
          <a:xfrm>
            <a:off x="3539600" y="3122875"/>
            <a:ext cx="5112800" cy="12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067" b="1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2"/>
          </p:nvPr>
        </p:nvSpPr>
        <p:spPr>
          <a:xfrm>
            <a:off x="3539600" y="5482468"/>
            <a:ext cx="5112800" cy="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33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61" name="Google Shape;261;p32"/>
          <p:cNvGrpSpPr/>
          <p:nvPr/>
        </p:nvGrpSpPr>
        <p:grpSpPr>
          <a:xfrm>
            <a:off x="951584" y="3439200"/>
            <a:ext cx="11240651" cy="3418800"/>
            <a:chOff x="713688" y="2579400"/>
            <a:chExt cx="8430488" cy="2564100"/>
          </a:xfrm>
        </p:grpSpPr>
        <p:cxnSp>
          <p:nvCxnSpPr>
            <p:cNvPr id="262" name="Google Shape;26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4" name="Google Shape;264;p32"/>
          <p:cNvSpPr txBox="1"/>
          <p:nvPr/>
        </p:nvSpPr>
        <p:spPr>
          <a:xfrm>
            <a:off x="3539600" y="4406129"/>
            <a:ext cx="5112800" cy="10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lang="en" sz="16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  <p:extLst>
      <p:ext uri="{BB962C8B-B14F-4D97-AF65-F5344CB8AC3E}">
        <p14:creationId xmlns:p14="http://schemas.microsoft.com/office/powerpoint/2010/main" val="1022641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12002800" y="-133"/>
            <a:ext cx="0" cy="353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11054800" y="0"/>
            <a:ext cx="113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68" name="Google Shape;268;p33"/>
          <p:cNvCxnSpPr/>
          <p:nvPr/>
        </p:nvCxnSpPr>
        <p:spPr>
          <a:xfrm>
            <a:off x="5697600" y="6501367"/>
            <a:ext cx="64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948333" y="0"/>
            <a:ext cx="0" cy="550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02828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67" y="0"/>
            <a:ext cx="955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484133"/>
            <a:ext cx="11813600" cy="6373867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332490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000B-F299-B07A-B2B4-C3DD63A2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3FD72-0D92-5A33-64BC-732C7CBE5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CB544-5EC2-EFC1-1F2A-09F6E4AE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D96-38CB-48B8-BD69-4961A2D30DA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441D8-59D6-F205-4F26-45966ED9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786F-76D1-3CD4-0338-5206EEFB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7E8EC-B5B3-4C8A-A16D-5DEE7F03B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10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F0E2-92C7-7843-C3BA-D16D7D1A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5398-307F-0740-AD04-6A78EC0F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8825B-B02D-F47A-B231-796D2F2C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D96-38CB-48B8-BD69-4961A2D30DA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06AFC-D5EC-E80D-47BD-F2772F2B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032B9-A1EA-452B-D213-4F39F6D9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7E8EC-B5B3-4C8A-A16D-5DEE7F03B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87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19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627533"/>
            <a:ext cx="102900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729867"/>
            <a:ext cx="10290000" cy="4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36222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01496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22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customXml" Target="../ink/ink5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34.xml"/><Relationship Id="rId6" Type="http://schemas.openxmlformats.org/officeDocument/2006/relationships/customXml" Target="../ink/ink2.xml"/><Relationship Id="rId11" Type="http://schemas.openxmlformats.org/officeDocument/2006/relationships/image" Target="../media/image26.png"/><Relationship Id="rId24" Type="http://schemas.openxmlformats.org/officeDocument/2006/relationships/customXml" Target="../ink/ink11.xml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30.png"/><Relationship Id="rId4" Type="http://schemas.openxmlformats.org/officeDocument/2006/relationships/customXml" Target="../ink/ink1.xml"/><Relationship Id="rId9" Type="http://schemas.openxmlformats.org/officeDocument/2006/relationships/image" Target="../media/image2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" Type="http://schemas.openxmlformats.org/officeDocument/2006/relationships/image" Target="../media/image35.png"/><Relationship Id="rId21" Type="http://schemas.openxmlformats.org/officeDocument/2006/relationships/image" Target="../media/image44.png"/><Relationship Id="rId7" Type="http://schemas.openxmlformats.org/officeDocument/2006/relationships/image" Target="../media/image37.png"/><Relationship Id="rId12" Type="http://schemas.openxmlformats.org/officeDocument/2006/relationships/customXml" Target="../ink/ink18.xml"/><Relationship Id="rId17" Type="http://schemas.openxmlformats.org/officeDocument/2006/relationships/image" Target="../media/image42.png"/><Relationship Id="rId25" Type="http://schemas.openxmlformats.org/officeDocument/2006/relationships/image" Target="../media/image46.png"/><Relationship Id="rId3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34.xml"/><Relationship Id="rId6" Type="http://schemas.openxmlformats.org/officeDocument/2006/relationships/customXml" Target="../ink/ink15.xml"/><Relationship Id="rId11" Type="http://schemas.openxmlformats.org/officeDocument/2006/relationships/image" Target="../media/image39.png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28" Type="http://schemas.openxmlformats.org/officeDocument/2006/relationships/customXml" Target="../ink/ink26.xml"/><Relationship Id="rId10" Type="http://schemas.openxmlformats.org/officeDocument/2006/relationships/customXml" Target="../ink/ink17.xml"/><Relationship Id="rId19" Type="http://schemas.openxmlformats.org/officeDocument/2006/relationships/image" Target="../media/image43.png"/><Relationship Id="rId31" Type="http://schemas.openxmlformats.org/officeDocument/2006/relationships/image" Target="../media/image49.png"/><Relationship Id="rId4" Type="http://schemas.openxmlformats.org/officeDocument/2006/relationships/customXml" Target="../ink/ink14.xml"/><Relationship Id="rId9" Type="http://schemas.openxmlformats.org/officeDocument/2006/relationships/image" Target="../media/image38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Relationship Id="rId27" Type="http://schemas.openxmlformats.org/officeDocument/2006/relationships/image" Target="../media/image47.png"/><Relationship Id="rId30" Type="http://schemas.openxmlformats.org/officeDocument/2006/relationships/customXml" Target="../ink/ink27.xml"/><Relationship Id="rId8" Type="http://schemas.openxmlformats.org/officeDocument/2006/relationships/customXml" Target="../ink/ink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68.png"/><Relationship Id="rId18" Type="http://schemas.openxmlformats.org/officeDocument/2006/relationships/customXml" Target="../ink/ink35.xml"/><Relationship Id="rId26" Type="http://schemas.openxmlformats.org/officeDocument/2006/relationships/customXml" Target="../ink/ink39.xml"/><Relationship Id="rId3" Type="http://schemas.openxmlformats.org/officeDocument/2006/relationships/image" Target="../media/image62.png"/><Relationship Id="rId21" Type="http://schemas.openxmlformats.org/officeDocument/2006/relationships/image" Target="../media/image72.png"/><Relationship Id="rId7" Type="http://schemas.openxmlformats.org/officeDocument/2006/relationships/image" Target="../media/image65.png"/><Relationship Id="rId12" Type="http://schemas.openxmlformats.org/officeDocument/2006/relationships/customXml" Target="../ink/ink32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2" Type="http://schemas.openxmlformats.org/officeDocument/2006/relationships/image" Target="../media/image61.png"/><Relationship Id="rId16" Type="http://schemas.openxmlformats.org/officeDocument/2006/relationships/customXml" Target="../ink/ink34.xml"/><Relationship Id="rId20" Type="http://schemas.openxmlformats.org/officeDocument/2006/relationships/customXml" Target="../ink/ink36.xml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64.png"/><Relationship Id="rId11" Type="http://schemas.openxmlformats.org/officeDocument/2006/relationships/image" Target="../media/image67.png"/><Relationship Id="rId24" Type="http://schemas.openxmlformats.org/officeDocument/2006/relationships/customXml" Target="../ink/ink38.xml"/><Relationship Id="rId32" Type="http://schemas.openxmlformats.org/officeDocument/2006/relationships/image" Target="../media/image78.png"/><Relationship Id="rId5" Type="http://schemas.openxmlformats.org/officeDocument/2006/relationships/customXml" Target="../ink/ink29.xml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28" Type="http://schemas.openxmlformats.org/officeDocument/2006/relationships/customXml" Target="../ink/ink40.xml"/><Relationship Id="rId10" Type="http://schemas.openxmlformats.org/officeDocument/2006/relationships/customXml" Target="../ink/ink31.xml"/><Relationship Id="rId19" Type="http://schemas.openxmlformats.org/officeDocument/2006/relationships/image" Target="../media/image71.png"/><Relationship Id="rId31" Type="http://schemas.openxmlformats.org/officeDocument/2006/relationships/image" Target="../media/image77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75.png"/><Relationship Id="rId30" Type="http://schemas.openxmlformats.org/officeDocument/2006/relationships/customXml" Target="../ink/ink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14D6-7FA8-2952-1C6A-F7D2E8142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/>
              <a:t>OC Transpo Bus Allocation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5B684-0663-0025-E539-2276C247E0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MECH 5800</a:t>
            </a:r>
          </a:p>
          <a:p>
            <a:endParaRPr lang="en-US"/>
          </a:p>
          <a:p>
            <a:r>
              <a:rPr lang="en-US"/>
              <a:t>Jessica Chiappetta</a:t>
            </a:r>
          </a:p>
          <a:p>
            <a:r>
              <a:rPr lang="en-US"/>
              <a:t>Joseph McConkey</a:t>
            </a:r>
          </a:p>
        </p:txBody>
      </p:sp>
      <p:pic>
        <p:nvPicPr>
          <p:cNvPr id="2050" name="Picture 2" descr="Partner Universities - Jean Monnet Network on Transatlantic Trade Politics">
            <a:extLst>
              <a:ext uri="{FF2B5EF4-FFF2-40B4-BE49-F238E27FC236}">
                <a16:creationId xmlns:a16="http://schemas.microsoft.com/office/drawing/2014/main" id="{1EA883D4-FAFD-3F7F-87CD-EF356674B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99" y="5064263"/>
            <a:ext cx="3666729" cy="179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475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13BD-DD71-0D8C-A52F-5897A310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023" y="420771"/>
            <a:ext cx="6593200" cy="930000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68D2764-D89D-77F9-5F41-86EB293DC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302" y="1626996"/>
            <a:ext cx="6593200" cy="3217867"/>
          </a:xfrm>
        </p:spPr>
        <p:txBody>
          <a:bodyPr/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sz="2000"/>
              <a:t>Public transportation is a critical component of a functioning metropolitan system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sz="2000"/>
              <a:t>Key benefits include:</a:t>
            </a:r>
          </a:p>
          <a:p>
            <a:pPr marL="139700" indent="0"/>
            <a:endParaRPr lang="en-US" sz="24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65DB6-3404-01CD-505C-908AEBB43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41361"/>
              </p:ext>
            </p:extLst>
          </p:nvPr>
        </p:nvGraphicFramePr>
        <p:xfrm>
          <a:off x="834998" y="2975001"/>
          <a:ext cx="9737752" cy="2256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84">
                  <a:extLst>
                    <a:ext uri="{9D8B030D-6E8A-4147-A177-3AD203B41FA5}">
                      <a16:colId xmlns:a16="http://schemas.microsoft.com/office/drawing/2014/main" val="4015342849"/>
                    </a:ext>
                  </a:extLst>
                </a:gridCol>
                <a:gridCol w="6207068">
                  <a:extLst>
                    <a:ext uri="{9D8B030D-6E8A-4147-A177-3AD203B41FA5}">
                      <a16:colId xmlns:a16="http://schemas.microsoft.com/office/drawing/2014/main" val="2243611402"/>
                    </a:ext>
                  </a:extLst>
                </a:gridCol>
              </a:tblGrid>
              <a:tr h="339306">
                <a:tc>
                  <a:txBody>
                    <a:bodyPr/>
                    <a:lstStyle/>
                    <a:p>
                      <a:r>
                        <a:rPr lang="en-US"/>
                        <a:t>Road and Infrastructure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Social and Environmental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159549"/>
                  </a:ext>
                </a:extLst>
              </a:tr>
              <a:tr h="1880019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Reduced traffic congestion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Reduced parking demand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Fewer traffic accidents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Lower road and parking infrastructure costs</a:t>
                      </a:r>
                    </a:p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Improved mobility for non-drivers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Greater equity for those who cannot drive (people with disabilities, seniors, youths, immigrants, etc.) and low-income populations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Health benefits from increased active transportation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Reduced GHG emissions and improved air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379532"/>
                  </a:ext>
                </a:extLst>
              </a:tr>
            </a:tbl>
          </a:graphicData>
        </a:graphic>
      </p:graphicFrame>
      <p:sp>
        <p:nvSpPr>
          <p:cNvPr id="6" name="Subtitle 3">
            <a:extLst>
              <a:ext uri="{FF2B5EF4-FFF2-40B4-BE49-F238E27FC236}">
                <a16:creationId xmlns:a16="http://schemas.microsoft.com/office/drawing/2014/main" id="{D4ED798D-55A7-1DA0-5731-D64F1FE26A20}"/>
              </a:ext>
            </a:extLst>
          </p:cNvPr>
          <p:cNvSpPr txBox="1">
            <a:spLocks/>
          </p:cNvSpPr>
          <p:nvPr/>
        </p:nvSpPr>
        <p:spPr>
          <a:xfrm>
            <a:off x="568302" y="5507229"/>
            <a:ext cx="9613923" cy="321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0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marR="0" lvl="1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17500" algn="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ommissioner"/>
              <a:buNone/>
              <a:defRPr sz="2467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139700" indent="0"/>
            <a:r>
              <a:rPr lang="en-US" sz="2000" b="1"/>
              <a:t>RESULT:</a:t>
            </a:r>
            <a:r>
              <a:rPr lang="en-US" sz="2000"/>
              <a:t> Motivation to improve bus frequency to increase ridership </a:t>
            </a:r>
            <a:r>
              <a:rPr lang="en-US" sz="2000" b="1"/>
              <a:t>within budget constraints</a:t>
            </a:r>
            <a:r>
              <a:rPr lang="en-US" sz="2000"/>
              <a:t> (O-Train expansion and post COVID-19 ridership impacts)</a:t>
            </a:r>
          </a:p>
        </p:txBody>
      </p:sp>
    </p:spTree>
    <p:extLst>
      <p:ext uri="{BB962C8B-B14F-4D97-AF65-F5344CB8AC3E}">
        <p14:creationId xmlns:p14="http://schemas.microsoft.com/office/powerpoint/2010/main" val="168543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7A53-434C-15A3-60FB-B2534ABA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99" y="834615"/>
            <a:ext cx="4936125" cy="948081"/>
          </a:xfrm>
        </p:spPr>
        <p:txBody>
          <a:bodyPr/>
          <a:lstStyle/>
          <a:p>
            <a:r>
              <a:rPr lang="en-US" sz="540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5E216-5CD8-7180-17C2-96925D92A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875" y="2049395"/>
            <a:ext cx="6957600" cy="4303779"/>
          </a:xfrm>
        </p:spPr>
        <p:txBody>
          <a:bodyPr/>
          <a:lstStyle/>
          <a:p>
            <a:pPr marL="4826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/>
              <a:t>Evaluate public transit benefits using </a:t>
            </a:r>
            <a:r>
              <a:rPr lang="en-US" sz="2000" b="1"/>
              <a:t>non-market valuation</a:t>
            </a:r>
            <a:r>
              <a:rPr lang="en-US" sz="2000"/>
              <a:t> techniques</a:t>
            </a:r>
          </a:p>
          <a:p>
            <a:pPr marL="4826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/>
              <a:t>Develop a </a:t>
            </a:r>
            <a:r>
              <a:rPr lang="en-US" sz="2000" b="1"/>
              <a:t>cost-benefit analysis </a:t>
            </a:r>
            <a:r>
              <a:rPr lang="en-US" sz="2000"/>
              <a:t>to quantify the impacts of changes in </a:t>
            </a:r>
            <a:r>
              <a:rPr lang="en-US" sz="2000" b="1"/>
              <a:t>service frequency</a:t>
            </a:r>
          </a:p>
          <a:p>
            <a:pPr marL="4826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/>
              <a:t>Optimize route frequency across selected OC Transpo bus routes to </a:t>
            </a:r>
            <a:r>
              <a:rPr lang="en-US" sz="2000" b="1"/>
              <a:t>maximize social benefits </a:t>
            </a:r>
          </a:p>
          <a:p>
            <a:pPr marL="4826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/>
              <a:t>Conduct </a:t>
            </a:r>
            <a:r>
              <a:rPr lang="en-US" sz="2000" b="1"/>
              <a:t>sensitivity analysis </a:t>
            </a:r>
            <a:r>
              <a:rPr lang="en-US" sz="2000"/>
              <a:t>to address uncertainty and identify key parameters influencing results</a:t>
            </a:r>
          </a:p>
        </p:txBody>
      </p:sp>
      <p:pic>
        <p:nvPicPr>
          <p:cNvPr id="1028" name="Picture 4" descr="OC Transpo launches bus route review and public consultation process">
            <a:extLst>
              <a:ext uri="{FF2B5EF4-FFF2-40B4-BE49-F238E27FC236}">
                <a16:creationId xmlns:a16="http://schemas.microsoft.com/office/drawing/2014/main" id="{CB1A9252-BE36-980E-DB25-F1F9EC149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567" y="3752850"/>
            <a:ext cx="3683382" cy="270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55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C002-67BB-8097-4EE1-87C3A83D3DA9}"/>
              </a:ext>
            </a:extLst>
          </p:cNvPr>
          <p:cNvSpPr txBox="1">
            <a:spLocks/>
          </p:cNvSpPr>
          <p:nvPr/>
        </p:nvSpPr>
        <p:spPr>
          <a:xfrm>
            <a:off x="1226549" y="161923"/>
            <a:ext cx="8879475" cy="180975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>
                <a:latin typeface="Golos Text" panose="020B0604020202020204" charset="0"/>
                <a:cs typeface="Golos Text" panose="020B0604020202020204" charset="0"/>
              </a:rPr>
              <a:t>Scope and Frequency Effects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E5D33-99C1-78C8-F02E-D56AF02AA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974" y="1578889"/>
            <a:ext cx="7086964" cy="12573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6671D0-AFC9-ED83-2812-C3F8A4C5F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2" t="3065" r="4328" b="4085"/>
          <a:stretch>
            <a:fillRect/>
          </a:stretch>
        </p:blipFill>
        <p:spPr>
          <a:xfrm>
            <a:off x="6934200" y="3852440"/>
            <a:ext cx="3562350" cy="17335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63B8D1-ACD5-71FB-69D3-0B7BC1005B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68" t="18335" r="4901" b="10002"/>
          <a:stretch>
            <a:fillRect/>
          </a:stretch>
        </p:blipFill>
        <p:spPr>
          <a:xfrm>
            <a:off x="1695450" y="4196163"/>
            <a:ext cx="3343275" cy="8191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F7F43D-4271-F0EB-5E15-645150E396C0}"/>
              </a:ext>
            </a:extLst>
          </p:cNvPr>
          <p:cNvSpPr txBox="1"/>
          <p:nvPr/>
        </p:nvSpPr>
        <p:spPr>
          <a:xfrm>
            <a:off x="988831" y="3142542"/>
            <a:ext cx="3987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Commissioner"/>
              </a:rPr>
              <a:t>Elasticity of transit use with respect to transit service averages 0.5: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98515-4A2C-F9E5-A5EB-DABA30D169E3}"/>
              </a:ext>
            </a:extLst>
          </p:cNvPr>
          <p:cNvSpPr txBox="1"/>
          <p:nvPr/>
        </p:nvSpPr>
        <p:spPr>
          <a:xfrm>
            <a:off x="1102723" y="5434804"/>
            <a:ext cx="1752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Number of passengers in  optimized system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C1ABF6-4637-DA6F-3900-865C46E18891}"/>
              </a:ext>
            </a:extLst>
          </p:cNvPr>
          <p:cNvCxnSpPr>
            <a:cxnSpLocks/>
          </p:cNvCxnSpPr>
          <p:nvPr/>
        </p:nvCxnSpPr>
        <p:spPr>
          <a:xfrm flipV="1">
            <a:off x="1771650" y="4833331"/>
            <a:ext cx="414746" cy="601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2288FA-B06A-593A-1E93-D8B57F4AD3CF}"/>
              </a:ext>
            </a:extLst>
          </p:cNvPr>
          <p:cNvSpPr txBox="1"/>
          <p:nvPr/>
        </p:nvSpPr>
        <p:spPr>
          <a:xfrm>
            <a:off x="3200333" y="5434804"/>
            <a:ext cx="12753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mmissioner"/>
              </a:rPr>
              <a:t>Number of passengers in current system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984DF7-4011-B20F-0022-0175106EC746}"/>
              </a:ext>
            </a:extLst>
          </p:cNvPr>
          <p:cNvCxnSpPr>
            <a:cxnSpLocks/>
          </p:cNvCxnSpPr>
          <p:nvPr/>
        </p:nvCxnSpPr>
        <p:spPr>
          <a:xfrm flipH="1" flipV="1">
            <a:off x="3345859" y="4791260"/>
            <a:ext cx="386277" cy="605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4450598-E76E-A29A-0A71-5A0B026EE268}"/>
              </a:ext>
            </a:extLst>
          </p:cNvPr>
          <p:cNvSpPr txBox="1"/>
          <p:nvPr/>
        </p:nvSpPr>
        <p:spPr>
          <a:xfrm>
            <a:off x="5038725" y="3438952"/>
            <a:ext cx="12753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mmissioner"/>
              </a:rPr>
              <a:t>Service frequencies of optimized and current system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131113-36BE-6B46-08E2-794D7D384615}"/>
              </a:ext>
            </a:extLst>
          </p:cNvPr>
          <p:cNvCxnSpPr>
            <a:cxnSpLocks/>
          </p:cNvCxnSpPr>
          <p:nvPr/>
        </p:nvCxnSpPr>
        <p:spPr>
          <a:xfrm flipH="1">
            <a:off x="4390443" y="3852440"/>
            <a:ext cx="524457" cy="546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EFB991B-4EBA-E3F3-474E-8304943627BD}"/>
              </a:ext>
            </a:extLst>
          </p:cNvPr>
          <p:cNvSpPr txBox="1"/>
          <p:nvPr/>
        </p:nvSpPr>
        <p:spPr>
          <a:xfrm>
            <a:off x="9027449" y="5804136"/>
            <a:ext cx="1945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Number of buses in optimized and current system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37DC80-3204-5578-137C-E3C37F8B9AF8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9686925" y="5434804"/>
            <a:ext cx="313200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24DE80D-1356-64C5-0C39-717337E7819F}"/>
              </a:ext>
            </a:extLst>
          </p:cNvPr>
          <p:cNvSpPr/>
          <p:nvPr/>
        </p:nvSpPr>
        <p:spPr>
          <a:xfrm>
            <a:off x="5393597" y="4592159"/>
            <a:ext cx="1297984" cy="22405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8C8D77-F92D-E3CE-5548-65D405E83032}"/>
              </a:ext>
            </a:extLst>
          </p:cNvPr>
          <p:cNvSpPr txBox="1"/>
          <p:nvPr/>
        </p:nvSpPr>
        <p:spPr>
          <a:xfrm>
            <a:off x="5344949" y="4864602"/>
            <a:ext cx="139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latin typeface="Commissioner"/>
              </a:rPr>
              <a:t>Integer problem</a:t>
            </a:r>
          </a:p>
        </p:txBody>
      </p:sp>
    </p:spTree>
    <p:extLst>
      <p:ext uri="{BB962C8B-B14F-4D97-AF65-F5344CB8AC3E}">
        <p14:creationId xmlns:p14="http://schemas.microsoft.com/office/powerpoint/2010/main" val="359361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B3CD-BC54-3C06-50CB-6DF2DCAE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479716"/>
            <a:ext cx="10290000" cy="733200"/>
          </a:xfrm>
        </p:spPr>
        <p:txBody>
          <a:bodyPr/>
          <a:lstStyle/>
          <a:p>
            <a:r>
              <a:rPr lang="en-US" sz="5400"/>
              <a:t>Data Sources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637A3-46E2-EF01-DE60-41744C164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66" y="1535142"/>
            <a:ext cx="4516383" cy="2516000"/>
          </a:xfrm>
        </p:spPr>
        <p:txBody>
          <a:bodyPr/>
          <a:lstStyle/>
          <a:p>
            <a:r>
              <a:rPr lang="en-US" sz="1800" b="1"/>
              <a:t>Ridership data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2023 ridership data categorized by route, time of day, and season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January selected as the representative study period 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Passengers counts aggregated over time blocks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7371F38-5D84-463B-EDA7-5E3B569C1BA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448969" y="1535142"/>
            <a:ext cx="4267200" cy="3238542"/>
          </a:xfrm>
        </p:spPr>
        <p:txBody>
          <a:bodyPr/>
          <a:lstStyle/>
          <a:p>
            <a:r>
              <a:rPr lang="en-US" sz="1800" b="1"/>
              <a:t>Route data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General Transit Feed Specification (GTFS)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Standardized format for public transit data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 Provides schedule and geographic information for routes and stops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1800"/>
              <a:t>Used to represent current (2026) system operation 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5937A-A731-6F67-B2B6-546297648E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22"/>
          <a:stretch>
            <a:fillRect/>
          </a:stretch>
        </p:blipFill>
        <p:spPr>
          <a:xfrm>
            <a:off x="1882786" y="3895725"/>
            <a:ext cx="2403562" cy="1685926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BEB6ED5F-EEB1-426B-77D4-166F101EC171}"/>
              </a:ext>
            </a:extLst>
          </p:cNvPr>
          <p:cNvSpPr/>
          <p:nvPr/>
        </p:nvSpPr>
        <p:spPr>
          <a:xfrm rot="5400000">
            <a:off x="5800966" y="2610154"/>
            <a:ext cx="400112" cy="64764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E16DC-DED9-F91E-BE82-45433B78BF5B}"/>
              </a:ext>
            </a:extLst>
          </p:cNvPr>
          <p:cNvSpPr txBox="1"/>
          <p:nvPr/>
        </p:nvSpPr>
        <p:spPr>
          <a:xfrm>
            <a:off x="4286348" y="6048439"/>
            <a:ext cx="3619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mmissioner"/>
              </a:rPr>
              <a:t>Optimize n_new -&gt; number of buses for a given </a:t>
            </a:r>
            <a:r>
              <a:rPr lang="en-US" sz="1800" b="1" dirty="0">
                <a:latin typeface="Commissioner"/>
              </a:rPr>
              <a:t>time block t, and route r</a:t>
            </a:r>
          </a:p>
        </p:txBody>
      </p:sp>
    </p:spTree>
    <p:extLst>
      <p:ext uri="{BB962C8B-B14F-4D97-AF65-F5344CB8AC3E}">
        <p14:creationId xmlns:p14="http://schemas.microsoft.com/office/powerpoint/2010/main" val="3756221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40E4547-44D5-0073-79B8-4C75AC0A6FB7}"/>
              </a:ext>
            </a:extLst>
          </p:cNvPr>
          <p:cNvSpPr/>
          <p:nvPr/>
        </p:nvSpPr>
        <p:spPr>
          <a:xfrm>
            <a:off x="1113914" y="4758877"/>
            <a:ext cx="7487161" cy="1638300"/>
          </a:xfrm>
          <a:prstGeom prst="rect">
            <a:avLst/>
          </a:prstGeom>
          <a:solidFill>
            <a:srgbClr val="7030A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CAFF1AC-101E-742A-428F-8CE78A2AD9AB}"/>
              </a:ext>
            </a:extLst>
          </p:cNvPr>
          <p:cNvSpPr/>
          <p:nvPr/>
        </p:nvSpPr>
        <p:spPr>
          <a:xfrm>
            <a:off x="1081002" y="1279973"/>
            <a:ext cx="4929274" cy="2775525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94A691A-D5B4-B0AC-AB40-7712811A50D0}"/>
              </a:ext>
            </a:extLst>
          </p:cNvPr>
          <p:cNvSpPr/>
          <p:nvPr/>
        </p:nvSpPr>
        <p:spPr>
          <a:xfrm>
            <a:off x="6634164" y="1714437"/>
            <a:ext cx="5212514" cy="2775525"/>
          </a:xfrm>
          <a:prstGeom prst="rect">
            <a:avLst/>
          </a:prstGeom>
          <a:solidFill>
            <a:srgbClr val="92D05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37CBD00-6B5A-1C02-1A36-AAA537D8D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41" r="25777" b="7473"/>
          <a:stretch>
            <a:fillRect/>
          </a:stretch>
        </p:blipFill>
        <p:spPr>
          <a:xfrm>
            <a:off x="6714150" y="2869594"/>
            <a:ext cx="4637344" cy="599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1F786C-962E-6D3C-36E7-09B64D38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30" r="31132" b="12910"/>
          <a:stretch>
            <a:fillRect/>
          </a:stretch>
        </p:blipFill>
        <p:spPr>
          <a:xfrm>
            <a:off x="1197727" y="2305069"/>
            <a:ext cx="4581698" cy="514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E578C3-D9F2-B4C4-E282-FAD2F9C47A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7" r="23567" b="10526"/>
          <a:stretch>
            <a:fillRect/>
          </a:stretch>
        </p:blipFill>
        <p:spPr>
          <a:xfrm>
            <a:off x="1309601" y="5009007"/>
            <a:ext cx="5743747" cy="64773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7B990F-B1F2-CD4C-221F-66E6595AB892}"/>
              </a:ext>
            </a:extLst>
          </p:cNvPr>
          <p:cNvCxnSpPr/>
          <p:nvPr/>
        </p:nvCxnSpPr>
        <p:spPr>
          <a:xfrm>
            <a:off x="2721899" y="1786024"/>
            <a:ext cx="276225" cy="657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854645-35B1-C460-F10D-83323A044508}"/>
              </a:ext>
            </a:extLst>
          </p:cNvPr>
          <p:cNvSpPr txBox="1"/>
          <p:nvPr/>
        </p:nvSpPr>
        <p:spPr>
          <a:xfrm>
            <a:off x="1531274" y="1375972"/>
            <a:ext cx="1400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Number buses in optimized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1572C7-AAA0-1618-CC61-12EDFEE7BD4B}"/>
              </a:ext>
            </a:extLst>
          </p:cNvPr>
          <p:cNvSpPr txBox="1"/>
          <p:nvPr/>
        </p:nvSpPr>
        <p:spPr>
          <a:xfrm>
            <a:off x="1081001" y="176590"/>
            <a:ext cx="5191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latin typeface="Golos Text" panose="020B0604020202020204" charset="0"/>
                <a:cs typeface="Golos Text" panose="020B0604020202020204" charset="0"/>
              </a:rPr>
              <a:t>Cost Equations</a:t>
            </a:r>
            <a:endParaRPr lang="en-US" sz="54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F0A0AB-4EFB-76E7-E1BC-5E3DC227F017}"/>
              </a:ext>
            </a:extLst>
          </p:cNvPr>
          <p:cNvCxnSpPr>
            <a:cxnSpLocks/>
          </p:cNvCxnSpPr>
          <p:nvPr/>
        </p:nvCxnSpPr>
        <p:spPr>
          <a:xfrm flipV="1">
            <a:off x="3255298" y="2672045"/>
            <a:ext cx="547775" cy="666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32B23C-ED76-1844-1945-0E11ACD1ADAC}"/>
              </a:ext>
            </a:extLst>
          </p:cNvPr>
          <p:cNvCxnSpPr/>
          <p:nvPr/>
        </p:nvCxnSpPr>
        <p:spPr>
          <a:xfrm>
            <a:off x="4317508" y="1745304"/>
            <a:ext cx="276225" cy="657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4DC42E-F8DA-A167-AAE4-9F89049EFE97}"/>
              </a:ext>
            </a:extLst>
          </p:cNvPr>
          <p:cNvCxnSpPr>
            <a:cxnSpLocks/>
          </p:cNvCxnSpPr>
          <p:nvPr/>
        </p:nvCxnSpPr>
        <p:spPr>
          <a:xfrm flipH="1" flipV="1">
            <a:off x="6790526" y="5451015"/>
            <a:ext cx="515574" cy="34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F4A8EF-AC7C-9F05-313B-EEA8C8428401}"/>
              </a:ext>
            </a:extLst>
          </p:cNvPr>
          <p:cNvCxnSpPr>
            <a:cxnSpLocks/>
          </p:cNvCxnSpPr>
          <p:nvPr/>
        </p:nvCxnSpPr>
        <p:spPr>
          <a:xfrm flipV="1">
            <a:off x="10723580" y="3197510"/>
            <a:ext cx="352253" cy="605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742350-FD04-0D4A-2F5A-A8F10391B896}"/>
              </a:ext>
            </a:extLst>
          </p:cNvPr>
          <p:cNvCxnSpPr>
            <a:cxnSpLocks/>
          </p:cNvCxnSpPr>
          <p:nvPr/>
        </p:nvCxnSpPr>
        <p:spPr>
          <a:xfrm flipV="1">
            <a:off x="4771853" y="2672045"/>
            <a:ext cx="524306" cy="71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7C9445-EF24-2C02-CAAB-2B3C7844CD58}"/>
              </a:ext>
            </a:extLst>
          </p:cNvPr>
          <p:cNvCxnSpPr>
            <a:cxnSpLocks/>
          </p:cNvCxnSpPr>
          <p:nvPr/>
        </p:nvCxnSpPr>
        <p:spPr>
          <a:xfrm flipV="1">
            <a:off x="9402145" y="3375895"/>
            <a:ext cx="450100" cy="528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A43BF7-6EBC-7F3F-8113-B6FC85E4C9D4}"/>
              </a:ext>
            </a:extLst>
          </p:cNvPr>
          <p:cNvCxnSpPr/>
          <p:nvPr/>
        </p:nvCxnSpPr>
        <p:spPr>
          <a:xfrm>
            <a:off x="9083737" y="2369575"/>
            <a:ext cx="276225" cy="657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799916-CD8C-299F-1C77-B545284CBD07}"/>
              </a:ext>
            </a:extLst>
          </p:cNvPr>
          <p:cNvCxnSpPr>
            <a:cxnSpLocks/>
          </p:cNvCxnSpPr>
          <p:nvPr/>
        </p:nvCxnSpPr>
        <p:spPr>
          <a:xfrm>
            <a:off x="10201019" y="2397110"/>
            <a:ext cx="314325" cy="66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8EBCAF9-E287-91A8-3430-88F5CAD9ACAE}"/>
              </a:ext>
            </a:extLst>
          </p:cNvPr>
          <p:cNvSpPr txBox="1"/>
          <p:nvPr/>
        </p:nvSpPr>
        <p:spPr>
          <a:xfrm>
            <a:off x="2159923" y="3293139"/>
            <a:ext cx="1400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Number buses in current 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BCE32D-FC16-4746-DDBA-C1843254E7BD}"/>
              </a:ext>
            </a:extLst>
          </p:cNvPr>
          <p:cNvSpPr txBox="1"/>
          <p:nvPr/>
        </p:nvSpPr>
        <p:spPr>
          <a:xfrm>
            <a:off x="3622012" y="1279973"/>
            <a:ext cx="140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Number hours in time block, 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9F1E96-153C-28D0-A6D6-CEB2EBEDAD62}"/>
              </a:ext>
            </a:extLst>
          </p:cNvPr>
          <p:cNvSpPr txBox="1"/>
          <p:nvPr/>
        </p:nvSpPr>
        <p:spPr>
          <a:xfrm>
            <a:off x="3871740" y="3316834"/>
            <a:ext cx="1400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Hourly wage rate of bus driver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578D66-56AD-5CA4-9DAC-92302A530EC1}"/>
              </a:ext>
            </a:extLst>
          </p:cNvPr>
          <p:cNvSpPr txBox="1"/>
          <p:nvPr/>
        </p:nvSpPr>
        <p:spPr>
          <a:xfrm>
            <a:off x="7821674" y="1873890"/>
            <a:ext cx="1400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missioner"/>
              </a:rPr>
              <a:t>Average route trip distance in km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7E34F4-C19A-4104-032D-E9AA93AF3021}"/>
              </a:ext>
            </a:extLst>
          </p:cNvPr>
          <p:cNvSpPr txBox="1"/>
          <p:nvPr/>
        </p:nvSpPr>
        <p:spPr>
          <a:xfrm>
            <a:off x="9500931" y="1933685"/>
            <a:ext cx="140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Price of fuel in $/liter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B1FC24-9971-97B0-8E64-51FEF6AD506F}"/>
              </a:ext>
            </a:extLst>
          </p:cNvPr>
          <p:cNvSpPr txBox="1"/>
          <p:nvPr/>
        </p:nvSpPr>
        <p:spPr>
          <a:xfrm>
            <a:off x="8100756" y="3707328"/>
            <a:ext cx="140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Average route trip length in hr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1D0EDB-43AF-4E87-180C-FA69A85A7309}"/>
              </a:ext>
            </a:extLst>
          </p:cNvPr>
          <p:cNvSpPr txBox="1"/>
          <p:nvPr/>
        </p:nvSpPr>
        <p:spPr>
          <a:xfrm>
            <a:off x="10061539" y="3662471"/>
            <a:ext cx="1400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Fuel consumption in liters/km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0BB577-705A-608B-731C-AB4CB041877C}"/>
              </a:ext>
            </a:extLst>
          </p:cNvPr>
          <p:cNvSpPr txBox="1"/>
          <p:nvPr/>
        </p:nvSpPr>
        <p:spPr>
          <a:xfrm>
            <a:off x="7306100" y="5645119"/>
            <a:ext cx="1400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Maintenance cost per km travelled </a:t>
            </a:r>
          </a:p>
        </p:txBody>
      </p:sp>
    </p:spTree>
    <p:extLst>
      <p:ext uri="{BB962C8B-B14F-4D97-AF65-F5344CB8AC3E}">
        <p14:creationId xmlns:p14="http://schemas.microsoft.com/office/powerpoint/2010/main" val="449679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5FB39A-AE0E-F540-9DC5-B9FAE60B807A}"/>
              </a:ext>
            </a:extLst>
          </p:cNvPr>
          <p:cNvSpPr/>
          <p:nvPr/>
        </p:nvSpPr>
        <p:spPr>
          <a:xfrm>
            <a:off x="1254789" y="1057860"/>
            <a:ext cx="8679612" cy="2450317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9B45A-91A3-A850-4D0A-CBFAA6BF1CDF}"/>
              </a:ext>
            </a:extLst>
          </p:cNvPr>
          <p:cNvSpPr/>
          <p:nvPr/>
        </p:nvSpPr>
        <p:spPr>
          <a:xfrm>
            <a:off x="3114627" y="3728209"/>
            <a:ext cx="8953500" cy="2974881"/>
          </a:xfrm>
          <a:prstGeom prst="rect">
            <a:avLst/>
          </a:prstGeom>
          <a:solidFill>
            <a:srgbClr val="92D05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65BA2-58C9-ECB7-44B8-A7E3138CBEAF}"/>
              </a:ext>
            </a:extLst>
          </p:cNvPr>
          <p:cNvSpPr txBox="1"/>
          <p:nvPr/>
        </p:nvSpPr>
        <p:spPr>
          <a:xfrm>
            <a:off x="1254789" y="154910"/>
            <a:ext cx="7072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latin typeface="Golos Text" panose="020B0604020202020204" charset="0"/>
                <a:cs typeface="Golos Text" panose="020B0604020202020204" charset="0"/>
              </a:rPr>
              <a:t>Benefit Equations</a:t>
            </a:r>
            <a:endParaRPr lang="en-US" sz="5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FD5B8C-5D36-6235-0B31-CA52964C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" r="12250"/>
          <a:stretch>
            <a:fillRect/>
          </a:stretch>
        </p:blipFill>
        <p:spPr>
          <a:xfrm>
            <a:off x="1456570" y="2090842"/>
            <a:ext cx="6619875" cy="1276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D63EE6-6218-6E74-5180-DF0B7994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59"/>
          <a:stretch>
            <a:fillRect/>
          </a:stretch>
        </p:blipFill>
        <p:spPr>
          <a:xfrm>
            <a:off x="5543377" y="4977152"/>
            <a:ext cx="6277148" cy="14542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A86E4F-735B-7593-9390-91F91F3BCCCC}"/>
              </a:ext>
            </a:extLst>
          </p:cNvPr>
          <p:cNvCxnSpPr>
            <a:cxnSpLocks/>
          </p:cNvCxnSpPr>
          <p:nvPr/>
        </p:nvCxnSpPr>
        <p:spPr>
          <a:xfrm flipV="1">
            <a:off x="5238577" y="5840231"/>
            <a:ext cx="1809923" cy="303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EE8987-D568-2439-FB75-45A5E5E16455}"/>
              </a:ext>
            </a:extLst>
          </p:cNvPr>
          <p:cNvCxnSpPr>
            <a:cxnSpLocks/>
          </p:cNvCxnSpPr>
          <p:nvPr/>
        </p:nvCxnSpPr>
        <p:spPr>
          <a:xfrm>
            <a:off x="11363301" y="4614367"/>
            <a:ext cx="293587" cy="509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956175-C159-CB01-73A1-8D55E09C4A0A}"/>
              </a:ext>
            </a:extLst>
          </p:cNvPr>
          <p:cNvSpPr txBox="1"/>
          <p:nvPr/>
        </p:nvSpPr>
        <p:spPr>
          <a:xfrm>
            <a:off x="8480826" y="1890934"/>
            <a:ext cx="1752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Fraction of hourly wage for VTT for passengers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8099F-7D84-2B04-AFA0-90156F200A5C}"/>
              </a:ext>
            </a:extLst>
          </p:cNvPr>
          <p:cNvSpPr txBox="1"/>
          <p:nvPr/>
        </p:nvSpPr>
        <p:spPr>
          <a:xfrm>
            <a:off x="10658475" y="3985564"/>
            <a:ext cx="1409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Social cost of carbon in $/kg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E6B3AE-1955-7224-95D4-F21F14FBD7F4}"/>
              </a:ext>
            </a:extLst>
          </p:cNvPr>
          <p:cNvSpPr txBox="1"/>
          <p:nvPr/>
        </p:nvSpPr>
        <p:spPr>
          <a:xfrm>
            <a:off x="3444100" y="5363178"/>
            <a:ext cx="1827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Emission intensity of a vehicle in kg CO2eq/passenger km travelled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5841AB-FC37-276F-3AA2-040EFBC0A4C6}"/>
              </a:ext>
            </a:extLst>
          </p:cNvPr>
          <p:cNvCxnSpPr>
            <a:cxnSpLocks/>
          </p:cNvCxnSpPr>
          <p:nvPr/>
        </p:nvCxnSpPr>
        <p:spPr>
          <a:xfrm flipH="1">
            <a:off x="7914965" y="2333625"/>
            <a:ext cx="497948" cy="551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BAD191-664F-4C6B-0EA3-2DB427D37722}"/>
              </a:ext>
            </a:extLst>
          </p:cNvPr>
          <p:cNvCxnSpPr>
            <a:cxnSpLocks/>
          </p:cNvCxnSpPr>
          <p:nvPr/>
        </p:nvCxnSpPr>
        <p:spPr>
          <a:xfrm>
            <a:off x="4989934" y="1585450"/>
            <a:ext cx="461943" cy="674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11B96AB-B4AD-BB76-44ED-8403D9F6113A}"/>
              </a:ext>
            </a:extLst>
          </p:cNvPr>
          <p:cNvSpPr txBox="1"/>
          <p:nvPr/>
        </p:nvSpPr>
        <p:spPr>
          <a:xfrm>
            <a:off x="6004130" y="3973099"/>
            <a:ext cx="2072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Vehicle-kilometer saved per 1 km of transit passenger km travelled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9065517-E7B9-CCB9-3E90-55AEE8675209}"/>
              </a:ext>
            </a:extLst>
          </p:cNvPr>
          <p:cNvCxnSpPr>
            <a:cxnSpLocks/>
          </p:cNvCxnSpPr>
          <p:nvPr/>
        </p:nvCxnSpPr>
        <p:spPr>
          <a:xfrm>
            <a:off x="7818716" y="4643023"/>
            <a:ext cx="330553" cy="52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1F7B3CF-D84A-A5DB-6735-67A7A2BF914B}"/>
              </a:ext>
            </a:extLst>
          </p:cNvPr>
          <p:cNvSpPr txBox="1"/>
          <p:nvPr/>
        </p:nvSpPr>
        <p:spPr>
          <a:xfrm>
            <a:off x="3460121" y="1190164"/>
            <a:ext cx="1838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mmissioner"/>
              </a:rPr>
              <a:t>Average hourly wage rate of  passenger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34F4AE6-A2F2-89AD-346F-F8CBA8429146}"/>
              </a:ext>
            </a:extLst>
          </p:cNvPr>
          <p:cNvCxnSpPr>
            <a:cxnSpLocks/>
          </p:cNvCxnSpPr>
          <p:nvPr/>
        </p:nvCxnSpPr>
        <p:spPr>
          <a:xfrm>
            <a:off x="9983650" y="4640217"/>
            <a:ext cx="338250" cy="484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2E0F8B3-719E-0EEF-79F3-74BF293F4055}"/>
              </a:ext>
            </a:extLst>
          </p:cNvPr>
          <p:cNvSpPr txBox="1"/>
          <p:nvPr/>
        </p:nvSpPr>
        <p:spPr>
          <a:xfrm>
            <a:off x="8764233" y="3966775"/>
            <a:ext cx="1557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mmissioner"/>
              </a:rPr>
              <a:t>Average length of passenger trip in km </a:t>
            </a:r>
          </a:p>
        </p:txBody>
      </p:sp>
    </p:spTree>
    <p:extLst>
      <p:ext uri="{BB962C8B-B14F-4D97-AF65-F5344CB8AC3E}">
        <p14:creationId xmlns:p14="http://schemas.microsoft.com/office/powerpoint/2010/main" val="131449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9E0631B-C45E-91CC-A536-78A5610E298B}"/>
              </a:ext>
            </a:extLst>
          </p:cNvPr>
          <p:cNvSpPr/>
          <p:nvPr/>
        </p:nvSpPr>
        <p:spPr>
          <a:xfrm>
            <a:off x="6129939" y="1941558"/>
            <a:ext cx="5901237" cy="4288909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F5ED97-0002-955D-8E3C-AABE360E9A8D}"/>
              </a:ext>
            </a:extLst>
          </p:cNvPr>
          <p:cNvSpPr/>
          <p:nvPr/>
        </p:nvSpPr>
        <p:spPr>
          <a:xfrm>
            <a:off x="160824" y="1941558"/>
            <a:ext cx="5823625" cy="4288909"/>
          </a:xfrm>
          <a:prstGeom prst="rect">
            <a:avLst/>
          </a:prstGeom>
          <a:solidFill>
            <a:srgbClr val="92D05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3783-077B-178C-AD53-C3BFB76C7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7" t="10547" r="9154" b="10120"/>
          <a:stretch>
            <a:fillRect/>
          </a:stretch>
        </p:blipFill>
        <p:spPr>
          <a:xfrm>
            <a:off x="160824" y="1021494"/>
            <a:ext cx="4298059" cy="7269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4A3164-6224-82BD-8693-129F9CE3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99" y="62244"/>
            <a:ext cx="10290000" cy="733200"/>
          </a:xfrm>
        </p:spPr>
        <p:txBody>
          <a:bodyPr/>
          <a:lstStyle/>
          <a:p>
            <a:r>
              <a:rPr lang="en-US" sz="5400" dirty="0"/>
              <a:t>Linear Approximation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F05D4-1D1D-F724-CA26-A5D17FF1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771" y="2146058"/>
            <a:ext cx="1457528" cy="75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9D6049-BD81-48C7-0D14-6568AD3F1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8" y="3550494"/>
            <a:ext cx="4827136" cy="1009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F8B301-15A6-84C9-99FE-246464A55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911" y="2060689"/>
            <a:ext cx="2915057" cy="876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E766BE-3964-B978-39B7-D23FAD648E77}"/>
              </a:ext>
            </a:extLst>
          </p:cNvPr>
          <p:cNvSpPr txBox="1"/>
          <p:nvPr/>
        </p:nvSpPr>
        <p:spPr>
          <a:xfrm>
            <a:off x="337983" y="2202977"/>
            <a:ext cx="212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Commissioner"/>
              </a:rPr>
              <a:t>Non-linear Terms: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DB815-64C6-DE00-806D-71366BC4864D}"/>
              </a:ext>
            </a:extLst>
          </p:cNvPr>
          <p:cNvSpPr txBox="1"/>
          <p:nvPr/>
        </p:nvSpPr>
        <p:spPr>
          <a:xfrm>
            <a:off x="369651" y="2957264"/>
            <a:ext cx="212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Commissioner"/>
              </a:rPr>
              <a:t>Taylor Expansion: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A71367-7E30-D01E-2785-45157258DC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381"/>
          <a:stretch>
            <a:fillRect/>
          </a:stretch>
        </p:blipFill>
        <p:spPr>
          <a:xfrm>
            <a:off x="6442396" y="3535305"/>
            <a:ext cx="5276321" cy="8764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E36839D-2FD4-63CF-89B9-E1D5C7EA1B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110" y="4624055"/>
            <a:ext cx="5588822" cy="13972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A710E0-3EBF-BCDD-2954-D11AC7CE31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651" y="4935532"/>
            <a:ext cx="5440458" cy="786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C37A57-581B-90B6-4B84-F0E809A58D49}"/>
              </a:ext>
            </a:extLst>
          </p:cNvPr>
          <p:cNvSpPr txBox="1"/>
          <p:nvPr/>
        </p:nvSpPr>
        <p:spPr>
          <a:xfrm>
            <a:off x="6291110" y="2294562"/>
            <a:ext cx="212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Commissioner"/>
              </a:rPr>
              <a:t>Non-linear Terms: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A2E7B-501F-17C9-11DA-8BD0A24C2FDB}"/>
              </a:ext>
            </a:extLst>
          </p:cNvPr>
          <p:cNvSpPr txBox="1"/>
          <p:nvPr/>
        </p:nvSpPr>
        <p:spPr>
          <a:xfrm>
            <a:off x="6193276" y="2981220"/>
            <a:ext cx="212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Commissioner"/>
              </a:rPr>
              <a:t>Taylor Expansion: </a:t>
            </a:r>
          </a:p>
        </p:txBody>
      </p:sp>
    </p:spTree>
    <p:extLst>
      <p:ext uri="{BB962C8B-B14F-4D97-AF65-F5344CB8AC3E}">
        <p14:creationId xmlns:p14="http://schemas.microsoft.com/office/powerpoint/2010/main" val="42668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8C8E65-2AFF-57C1-A8F7-4BE76B5B2DB3}"/>
              </a:ext>
            </a:extLst>
          </p:cNvPr>
          <p:cNvSpPr/>
          <p:nvPr/>
        </p:nvSpPr>
        <p:spPr>
          <a:xfrm>
            <a:off x="138372" y="1223011"/>
            <a:ext cx="11915251" cy="5120640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AFED15-30C4-D7AD-CBED-A6867891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7" y="1468456"/>
            <a:ext cx="9002381" cy="42868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6E28627-026E-E723-0CC0-6D5B3DD10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11" y="103687"/>
            <a:ext cx="10290175" cy="101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latin typeface="Golos Text" panose="020B0604020202020204" charset="0"/>
              </a:rPr>
              <a:t>Global Minimization Formulation</a:t>
            </a:r>
            <a:endParaRPr lang="en-US" sz="5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BCAC6-882D-63FD-1699-C650B291FEC1}"/>
              </a:ext>
            </a:extLst>
          </p:cNvPr>
          <p:cNvSpPr txBox="1"/>
          <p:nvPr/>
        </p:nvSpPr>
        <p:spPr>
          <a:xfrm>
            <a:off x="9590902" y="2539047"/>
            <a:ext cx="232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missioner"/>
              </a:rPr>
              <a:t>New costs must not exceed a reasonable budget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0BF710-EDB3-7B63-246C-0554EC2A9FD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9157494" y="2653706"/>
            <a:ext cx="433408" cy="146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8D7188-C176-B5A3-A2D0-85774C31493B}"/>
              </a:ext>
            </a:extLst>
          </p:cNvPr>
          <p:cNvSpPr txBox="1"/>
          <p:nvPr/>
        </p:nvSpPr>
        <p:spPr>
          <a:xfrm>
            <a:off x="138372" y="2769002"/>
            <a:ext cx="23249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missioner"/>
              </a:rPr>
              <a:t>Total bus assignments for a time block must not exceed an allowed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FB435-FA6B-11F2-5505-7BDFBBE31F9F}"/>
              </a:ext>
            </a:extLst>
          </p:cNvPr>
          <p:cNvSpPr txBox="1"/>
          <p:nvPr/>
        </p:nvSpPr>
        <p:spPr>
          <a:xfrm>
            <a:off x="9453093" y="3507666"/>
            <a:ext cx="26005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mmissioner"/>
              </a:rPr>
              <a:t>The change in buses should not exceed some reasonable bounds (to maintain stability)</a:t>
            </a:r>
            <a:endParaRPr lang="en-US" dirty="0">
              <a:latin typeface="Commissioner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2E04CD-F378-2B45-8D33-7EF73CDFB769}"/>
              </a:ext>
            </a:extLst>
          </p:cNvPr>
          <p:cNvCxnSpPr>
            <a:cxnSpLocks/>
          </p:cNvCxnSpPr>
          <p:nvPr/>
        </p:nvCxnSpPr>
        <p:spPr>
          <a:xfrm>
            <a:off x="1674777" y="3377412"/>
            <a:ext cx="903051" cy="132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AAD1D2-3674-BA63-D1FC-CA3D896A26D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861896" y="3876998"/>
            <a:ext cx="591197" cy="83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A92B52B-30F3-126C-28F6-D22C5E8496B8}"/>
              </a:ext>
            </a:extLst>
          </p:cNvPr>
          <p:cNvSpPr txBox="1"/>
          <p:nvPr/>
        </p:nvSpPr>
        <p:spPr>
          <a:xfrm>
            <a:off x="512321" y="4773454"/>
            <a:ext cx="2324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missioner"/>
              </a:rPr>
              <a:t>Integrality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C58D69-44CE-DF2F-163D-E0E5E58840C3}"/>
              </a:ext>
            </a:extLst>
          </p:cNvPr>
          <p:cNvCxnSpPr>
            <a:cxnSpLocks/>
          </p:cNvCxnSpPr>
          <p:nvPr/>
        </p:nvCxnSpPr>
        <p:spPr>
          <a:xfrm>
            <a:off x="1505353" y="4927342"/>
            <a:ext cx="620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C54A6B-4D9C-A622-46AE-2EEC3D8BE6B1}"/>
              </a:ext>
            </a:extLst>
          </p:cNvPr>
          <p:cNvCxnSpPr>
            <a:cxnSpLocks/>
          </p:cNvCxnSpPr>
          <p:nvPr/>
        </p:nvCxnSpPr>
        <p:spPr>
          <a:xfrm>
            <a:off x="1505353" y="5070963"/>
            <a:ext cx="725522" cy="25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7319B0-EE69-C2F0-34CF-956AD9B5926C}"/>
              </a:ext>
            </a:extLst>
          </p:cNvPr>
          <p:cNvCxnSpPr>
            <a:cxnSpLocks/>
          </p:cNvCxnSpPr>
          <p:nvPr/>
        </p:nvCxnSpPr>
        <p:spPr>
          <a:xfrm flipV="1">
            <a:off x="1508595" y="4560327"/>
            <a:ext cx="954688" cy="213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5BC9FDC8-39CC-F554-AB2F-0B37C3E83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686" y="4324780"/>
            <a:ext cx="4062023" cy="20312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1F904B0-8C59-A5E7-4529-73F86DC60BA1}"/>
              </a:ext>
            </a:extLst>
          </p:cNvPr>
          <p:cNvSpPr/>
          <p:nvPr/>
        </p:nvSpPr>
        <p:spPr>
          <a:xfrm>
            <a:off x="7676094" y="4560327"/>
            <a:ext cx="2508767" cy="848901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8A213B-F39B-5272-0024-5A916334C5D5}"/>
              </a:ext>
            </a:extLst>
          </p:cNvPr>
          <p:cNvSpPr txBox="1"/>
          <p:nvPr/>
        </p:nvSpPr>
        <p:spPr>
          <a:xfrm>
            <a:off x="7676094" y="4578231"/>
            <a:ext cx="3829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missioner"/>
              </a:rPr>
              <a:t>r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ϵ</a:t>
            </a:r>
            <a:r>
              <a:rPr lang="en-US" sz="2400" b="1" dirty="0">
                <a:latin typeface="Commissioner"/>
              </a:rPr>
              <a:t>R (85 routes)</a:t>
            </a:r>
          </a:p>
          <a:p>
            <a:r>
              <a:rPr lang="en-US" sz="2400" b="1" dirty="0">
                <a:latin typeface="Commissioner"/>
              </a:rPr>
              <a:t>t</a:t>
            </a: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ϵ</a:t>
            </a:r>
            <a:r>
              <a:rPr lang="en-US" sz="2400" b="1" dirty="0">
                <a:latin typeface="Commissioner"/>
              </a:rPr>
              <a:t>T (6 time blocks)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0EF889-C6DD-B780-47E9-D790E7C0FBC8}"/>
              </a:ext>
            </a:extLst>
          </p:cNvPr>
          <p:cNvSpPr txBox="1"/>
          <p:nvPr/>
        </p:nvSpPr>
        <p:spPr>
          <a:xfrm>
            <a:off x="7697356" y="5480388"/>
            <a:ext cx="3829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Commissioner"/>
              </a:rPr>
              <a:t>=&gt; 510 Decision Variables</a:t>
            </a:r>
          </a:p>
          <a:p>
            <a:r>
              <a:rPr lang="en-US" sz="2400" b="1">
                <a:latin typeface="Commissioner"/>
              </a:rPr>
              <a:t>(highly decomposable)</a:t>
            </a:r>
            <a:endParaRPr lang="en-US" sz="2400" b="1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C175CE-4341-3D64-A638-195E8A9E3085}"/>
              </a:ext>
            </a:extLst>
          </p:cNvPr>
          <p:cNvSpPr/>
          <p:nvPr/>
        </p:nvSpPr>
        <p:spPr>
          <a:xfrm>
            <a:off x="7697356" y="5520481"/>
            <a:ext cx="3619500" cy="79090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25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A7B4F8-3E99-AB84-0209-8C705431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3467B5-D16D-71C6-39F8-E9C290429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11" y="310833"/>
            <a:ext cx="10290175" cy="1015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Solution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9D2B04-686B-0656-7F48-0E6549E511DA}"/>
              </a:ext>
            </a:extLst>
          </p:cNvPr>
          <p:cNvSpPr txBox="1"/>
          <p:nvPr/>
        </p:nvSpPr>
        <p:spPr>
          <a:xfrm>
            <a:off x="950911" y="1851660"/>
            <a:ext cx="102901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sz="2000" dirty="0">
              <a:latin typeface="Commissioner"/>
            </a:endParaRPr>
          </a:p>
          <a:p>
            <a:pPr marL="285750" indent="-285750">
              <a:buFontTx/>
              <a:buChar char="-"/>
            </a:pPr>
            <a:endParaRPr lang="en-US" sz="2000" dirty="0">
              <a:latin typeface="Commissioner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ommissioner"/>
              </a:rPr>
              <a:t>Ridership (including baseline fleet size) determined based on our Jan 2023 data. 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ommissioner"/>
              </a:rPr>
              <a:t>We constrained to weekday data since commuting to/from Carleton is our focus. 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ommissioner"/>
              </a:rPr>
              <a:t>Route/Time blocks may be cancelled as dictated by the solver.</a:t>
            </a:r>
          </a:p>
          <a:p>
            <a:pPr>
              <a:spcAft>
                <a:spcPts val="1800"/>
              </a:spcAft>
            </a:pPr>
            <a:endParaRPr lang="en-US" sz="2000" dirty="0">
              <a:latin typeface="Commissioner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ommissioner"/>
              </a:rPr>
              <a:t>Using our linearization, we solved as a MILP using </a:t>
            </a:r>
            <a:r>
              <a:rPr lang="en-US" sz="2000" dirty="0" err="1">
                <a:latin typeface="Commissioner"/>
              </a:rPr>
              <a:t>Gurobi</a:t>
            </a:r>
            <a:r>
              <a:rPr lang="en-US" sz="2000" dirty="0">
                <a:latin typeface="Commissioner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2693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6A25C-6BC0-51C1-D64C-58E92115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2599-9EB8-2F5E-5A77-1C149761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Results: Target Subset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3E5DF-6654-15D9-EAEE-048C4EDA7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91" y="1708865"/>
            <a:ext cx="9862818" cy="489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2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6B56-1EE3-039E-43AE-A908BD4D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AD06-4057-F5BF-D2A3-749B92B4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Results: Cancelled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6547-AE36-77FF-087A-A70AFAA8A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624D95-DBD4-C816-DF90-A22F510A2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9867"/>
            <a:ext cx="12192000" cy="48400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CD5258-F3A8-49CD-55C9-D86C065B40FF}"/>
                  </a:ext>
                </a:extLst>
              </p14:cNvPr>
              <p14:cNvContentPartPr/>
              <p14:nvPr/>
            </p14:nvContentPartPr>
            <p14:xfrm>
              <a:off x="9651010" y="5028005"/>
              <a:ext cx="1244160" cy="799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CD5258-F3A8-49CD-55C9-D86C065B40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97010" y="4920005"/>
                <a:ext cx="1351800" cy="10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5455F2-90B1-A2E9-17CA-A320CC1A6FA3}"/>
                  </a:ext>
                </a:extLst>
              </p14:cNvPr>
              <p14:cNvContentPartPr/>
              <p14:nvPr/>
            </p14:nvContentPartPr>
            <p14:xfrm>
              <a:off x="8868370" y="5242925"/>
              <a:ext cx="139320" cy="55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5455F2-90B1-A2E9-17CA-A320CC1A6F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4230" y="5134219"/>
                <a:ext cx="247239" cy="272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1C3B7F-A678-AE75-A170-7E36E32BBF01}"/>
                  </a:ext>
                </a:extLst>
              </p14:cNvPr>
              <p14:cNvContentPartPr/>
              <p14:nvPr/>
            </p14:nvContentPartPr>
            <p14:xfrm>
              <a:off x="8963050" y="5515085"/>
              <a:ext cx="44640" cy="48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1C3B7F-A678-AE75-A170-7E36E32BBF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08611" y="5407085"/>
                <a:ext cx="153155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2A1D075-391C-A342-E389-08E5F2AC0E1F}"/>
                  </a:ext>
                </a:extLst>
              </p14:cNvPr>
              <p14:cNvContentPartPr/>
              <p14:nvPr/>
            </p14:nvContentPartPr>
            <p14:xfrm>
              <a:off x="8743450" y="5758445"/>
              <a:ext cx="283680" cy="149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2A1D075-391C-A342-E389-08E5F2AC0E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89450" y="5650445"/>
                <a:ext cx="39132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8E22BB1-B932-A22D-6F93-5A7EEFAE8EAD}"/>
                  </a:ext>
                </a:extLst>
              </p14:cNvPr>
              <p14:cNvContentPartPr/>
              <p14:nvPr/>
            </p14:nvContentPartPr>
            <p14:xfrm>
              <a:off x="6020410" y="5105765"/>
              <a:ext cx="282960" cy="3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8E22BB1-B932-A22D-6F93-5A7EEFAE8EA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66410" y="4997765"/>
                <a:ext cx="3906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21B733E-704D-649D-4FE5-AFA246637FC8}"/>
                  </a:ext>
                </a:extLst>
              </p14:cNvPr>
              <p14:cNvContentPartPr/>
              <p14:nvPr/>
            </p14:nvContentPartPr>
            <p14:xfrm>
              <a:off x="6031570" y="5466845"/>
              <a:ext cx="194400" cy="44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21B733E-704D-649D-4FE5-AFA246637F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77470" y="5358845"/>
                <a:ext cx="3022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FD5A607-A96C-917A-44E2-7497BFEDACA2}"/>
                  </a:ext>
                </a:extLst>
              </p14:cNvPr>
              <p14:cNvContentPartPr/>
              <p14:nvPr/>
            </p14:nvContentPartPr>
            <p14:xfrm>
              <a:off x="6050650" y="5797325"/>
              <a:ext cx="165240" cy="20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FD5A607-A96C-917A-44E2-7497BFEDACA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96532" y="5689325"/>
                <a:ext cx="273115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E2D445B-64EE-92F2-AA19-F0F1C90DC137}"/>
                  </a:ext>
                </a:extLst>
              </p14:cNvPr>
              <p14:cNvContentPartPr/>
              <p14:nvPr/>
            </p14:nvContentPartPr>
            <p14:xfrm>
              <a:off x="2838370" y="5822885"/>
              <a:ext cx="128520" cy="4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E2D445B-64EE-92F2-AA19-F0F1C90DC13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84370" y="5714885"/>
                <a:ext cx="2361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35C532C-49C1-24A6-B7C7-A2B7924A1FE0}"/>
                  </a:ext>
                </a:extLst>
              </p14:cNvPr>
              <p14:cNvContentPartPr/>
              <p14:nvPr/>
            </p14:nvContentPartPr>
            <p14:xfrm>
              <a:off x="2976250" y="5525165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35C532C-49C1-24A6-B7C7-A2B7924A1FE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22250" y="541716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979D827-EAA5-7FA0-5A60-61FDC9663924}"/>
                  </a:ext>
                </a:extLst>
              </p14:cNvPr>
              <p14:cNvContentPartPr/>
              <p14:nvPr/>
            </p14:nvContentPartPr>
            <p14:xfrm>
              <a:off x="2118010" y="5768165"/>
              <a:ext cx="128880" cy="29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979D827-EAA5-7FA0-5A60-61FDC966392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63859" y="5660165"/>
                <a:ext cx="236822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506FE59-E54D-463D-65E9-0ECCA09977EE}"/>
                  </a:ext>
                </a:extLst>
              </p14:cNvPr>
              <p14:cNvContentPartPr/>
              <p14:nvPr/>
            </p14:nvContentPartPr>
            <p14:xfrm>
              <a:off x="2090290" y="5476205"/>
              <a:ext cx="59760" cy="19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506FE59-E54D-463D-65E9-0ECCA09977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36290" y="5370134"/>
                <a:ext cx="167400" cy="231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770163C-89BC-E0A4-EA91-D14CF28CDE88}"/>
                  </a:ext>
                </a:extLst>
              </p14:cNvPr>
              <p14:cNvContentPartPr/>
              <p14:nvPr/>
            </p14:nvContentPartPr>
            <p14:xfrm>
              <a:off x="2071570" y="5177045"/>
              <a:ext cx="360" cy="56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770163C-89BC-E0A4-EA91-D14CF28CDE8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17570" y="5069045"/>
                <a:ext cx="1080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F6D734B-9C2E-BCDE-ADCA-57BAE2247C40}"/>
                  </a:ext>
                </a:extLst>
              </p14:cNvPr>
              <p14:cNvContentPartPr/>
              <p14:nvPr/>
            </p14:nvContentPartPr>
            <p14:xfrm>
              <a:off x="2188210" y="4727405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F6D734B-9C2E-BCDE-ADCA-57BAE2247C4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34210" y="461940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8711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5F6E-2215-14B9-BEDB-919044FF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C5B479B-F566-75A2-845E-D7DAAB15915A}"/>
              </a:ext>
            </a:extLst>
          </p:cNvPr>
          <p:cNvSpPr/>
          <p:nvPr/>
        </p:nvSpPr>
        <p:spPr>
          <a:xfrm>
            <a:off x="785801" y="1558268"/>
            <a:ext cx="4299567" cy="1331254"/>
          </a:xfrm>
          <a:prstGeom prst="rect">
            <a:avLst/>
          </a:prstGeom>
          <a:solidFill>
            <a:srgbClr val="92D05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8BF7C1-7AE9-0BF3-B5DD-3AC9A52A4CD6}"/>
              </a:ext>
            </a:extLst>
          </p:cNvPr>
          <p:cNvSpPr/>
          <p:nvPr/>
        </p:nvSpPr>
        <p:spPr>
          <a:xfrm>
            <a:off x="572034" y="3738448"/>
            <a:ext cx="4299567" cy="133125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A15447-AE2C-4318-3336-25886D7922B6}"/>
              </a:ext>
            </a:extLst>
          </p:cNvPr>
          <p:cNvSpPr/>
          <p:nvPr/>
        </p:nvSpPr>
        <p:spPr>
          <a:xfrm>
            <a:off x="6294938" y="2109106"/>
            <a:ext cx="4299567" cy="1331254"/>
          </a:xfrm>
          <a:prstGeom prst="rect">
            <a:avLst/>
          </a:prstGeom>
          <a:solidFill>
            <a:srgbClr val="FFFF0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0FC9BD-7364-3322-8DC8-D9FBAEFFA5C4}"/>
              </a:ext>
            </a:extLst>
          </p:cNvPr>
          <p:cNvSpPr/>
          <p:nvPr/>
        </p:nvSpPr>
        <p:spPr>
          <a:xfrm>
            <a:off x="6933520" y="5074979"/>
            <a:ext cx="4299567" cy="1331254"/>
          </a:xfrm>
          <a:prstGeom prst="rect">
            <a:avLst/>
          </a:prstGeom>
          <a:solidFill>
            <a:srgbClr val="FFFF00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7C310-4264-9B33-ADE9-0590AFF9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8" y="533815"/>
            <a:ext cx="10290000" cy="733200"/>
          </a:xfrm>
        </p:spPr>
        <p:txBody>
          <a:bodyPr/>
          <a:lstStyle/>
          <a:p>
            <a:r>
              <a:rPr lang="en-US" sz="5400" dirty="0"/>
              <a:t>Results: Some Diagnostics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ED8E4-C888-B5D3-852B-C66CBBC49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18" y="1819264"/>
            <a:ext cx="3333470" cy="46047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AF08B4-B382-4E29-DAC6-DC3BB588C400}"/>
                  </a:ext>
                </a:extLst>
              </p14:cNvPr>
              <p14:cNvContentPartPr/>
              <p14:nvPr/>
            </p14:nvContentPartPr>
            <p14:xfrm>
              <a:off x="6816160" y="5574540"/>
              <a:ext cx="448200" cy="20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AF08B4-B382-4E29-DAC6-DC3BB588C4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2160" y="5468371"/>
                <a:ext cx="555840" cy="232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0E3E55-9DD6-612C-2FC2-143AEE86AA8B}"/>
                  </a:ext>
                </a:extLst>
              </p14:cNvPr>
              <p14:cNvContentPartPr/>
              <p14:nvPr/>
            </p14:nvContentPartPr>
            <p14:xfrm>
              <a:off x="6842440" y="6100500"/>
              <a:ext cx="412200" cy="33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0E3E55-9DD6-612C-2FC2-143AEE86AA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8440" y="5992500"/>
                <a:ext cx="5198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998100F-8B47-C6B9-2EE9-415A5BA8179F}"/>
                  </a:ext>
                </a:extLst>
              </p14:cNvPr>
              <p14:cNvContentPartPr/>
              <p14:nvPr/>
            </p14:nvContentPartPr>
            <p14:xfrm>
              <a:off x="4141720" y="5575260"/>
              <a:ext cx="739080" cy="30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998100F-8B47-C6B9-2EE9-415A5BA817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87720" y="5465959"/>
                <a:ext cx="846720" cy="248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1980641-3A8D-9674-CE19-2AB9D2BDA23F}"/>
                  </a:ext>
                </a:extLst>
              </p14:cNvPr>
              <p14:cNvContentPartPr/>
              <p14:nvPr/>
            </p14:nvContentPartPr>
            <p14:xfrm>
              <a:off x="4102480" y="6128220"/>
              <a:ext cx="705960" cy="11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1980641-3A8D-9674-CE19-2AB9D2BDA2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48452" y="6020220"/>
                <a:ext cx="813655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1C4C83-DF1D-02C5-B461-DE45FAB448D1}"/>
                  </a:ext>
                </a:extLst>
              </p14:cNvPr>
              <p14:cNvContentPartPr/>
              <p14:nvPr/>
            </p14:nvContentPartPr>
            <p14:xfrm>
              <a:off x="4080160" y="2415180"/>
              <a:ext cx="897120" cy="18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1C4C83-DF1D-02C5-B461-DE45FAB448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6160" y="2307180"/>
                <a:ext cx="10047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F373FB-3003-8F38-FB9E-FCD7515B1527}"/>
                  </a:ext>
                </a:extLst>
              </p14:cNvPr>
              <p14:cNvContentPartPr/>
              <p14:nvPr/>
            </p14:nvContentPartPr>
            <p14:xfrm>
              <a:off x="6514840" y="2413380"/>
              <a:ext cx="722880" cy="20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F373FB-3003-8F38-FB9E-FCD7515B15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60840" y="2305380"/>
                <a:ext cx="8305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EEE10F-D114-F5A0-372D-9CDBB9E9ECC7}"/>
                  </a:ext>
                </a:extLst>
              </p14:cNvPr>
              <p14:cNvContentPartPr/>
              <p14:nvPr/>
            </p14:nvContentPartPr>
            <p14:xfrm>
              <a:off x="4083400" y="4204020"/>
              <a:ext cx="507960" cy="10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EEE10F-D114-F5A0-372D-9CDBB9E9EC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9400" y="4096020"/>
                <a:ext cx="6156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7996E93-B288-20EE-1572-1E7852C8DE98}"/>
                  </a:ext>
                </a:extLst>
              </p14:cNvPr>
              <p14:cNvContentPartPr/>
              <p14:nvPr/>
            </p14:nvContentPartPr>
            <p14:xfrm>
              <a:off x="6863320" y="4204020"/>
              <a:ext cx="418320" cy="21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7996E93-B288-20EE-1572-1E7852C8DE9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9320" y="4096020"/>
                <a:ext cx="5259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74FB8C3-77CF-6455-C9BB-DFC238A6E18F}"/>
                  </a:ext>
                </a:extLst>
              </p14:cNvPr>
              <p14:cNvContentPartPr/>
              <p14:nvPr/>
            </p14:nvContentPartPr>
            <p14:xfrm>
              <a:off x="6933520" y="4018260"/>
              <a:ext cx="282240" cy="10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74FB8C3-77CF-6455-C9BB-DFC238A6E1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79520" y="3910260"/>
                <a:ext cx="3898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3F5578A-E05D-C734-BD2C-967FAD987DD9}"/>
                  </a:ext>
                </a:extLst>
              </p14:cNvPr>
              <p14:cNvContentPartPr/>
              <p14:nvPr/>
            </p14:nvContentPartPr>
            <p14:xfrm>
              <a:off x="4083040" y="4020780"/>
              <a:ext cx="739440" cy="38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3F5578A-E05D-C734-BD2C-967FAD987DD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29040" y="3912780"/>
                <a:ext cx="8470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585E3C0-2DCD-811B-F836-B6EDD402F3C4}"/>
                  </a:ext>
                </a:extLst>
              </p14:cNvPr>
              <p14:cNvContentPartPr/>
              <p14:nvPr/>
            </p14:nvContentPartPr>
            <p14:xfrm>
              <a:off x="4102480" y="4699740"/>
              <a:ext cx="660600" cy="39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585E3C0-2DCD-811B-F836-B6EDD402F3C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8451" y="4591740"/>
                <a:ext cx="768299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13D5B79-0245-2704-CCA4-0BA9A17A7AE9}"/>
                  </a:ext>
                </a:extLst>
              </p14:cNvPr>
              <p14:cNvContentPartPr/>
              <p14:nvPr/>
            </p14:nvContentPartPr>
            <p14:xfrm>
              <a:off x="6874840" y="4729260"/>
              <a:ext cx="311760" cy="9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13D5B79-0245-2704-CCA4-0BA9A17A7AE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20840" y="4625117"/>
                <a:ext cx="419400" cy="217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1907704-DA8D-A832-18C2-B02A1BD2A4DD}"/>
                  </a:ext>
                </a:extLst>
              </p14:cNvPr>
              <p14:cNvContentPartPr/>
              <p14:nvPr/>
            </p14:nvContentPartPr>
            <p14:xfrm>
              <a:off x="5540818" y="1920784"/>
              <a:ext cx="1683000" cy="95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1907704-DA8D-A832-18C2-B02A1BD2A4D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86830" y="1812784"/>
                <a:ext cx="1790617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DEA12E6-5B72-BF1B-AC27-685BF7F25090}"/>
                  </a:ext>
                </a:extLst>
              </p14:cNvPr>
              <p14:cNvContentPartPr/>
              <p14:nvPr/>
            </p14:nvContentPartPr>
            <p14:xfrm>
              <a:off x="6432810" y="1931875"/>
              <a:ext cx="776880" cy="23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DEA12E6-5B72-BF1B-AC27-685BF7F2509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78810" y="1822187"/>
                <a:ext cx="884520" cy="2424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F2F9E82-6D35-1AD5-F3C6-79B849EE5184}"/>
                  </a:ext>
                </a:extLst>
              </p14:cNvPr>
              <p14:cNvContentPartPr/>
              <p14:nvPr/>
            </p14:nvContentPartPr>
            <p14:xfrm>
              <a:off x="4121250" y="1953835"/>
              <a:ext cx="1084680" cy="31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F2F9E82-6D35-1AD5-F3C6-79B849EE51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67250" y="1845835"/>
                <a:ext cx="1192320" cy="2473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551A5D6-05DC-B1C0-89AB-70C31A909205}"/>
              </a:ext>
            </a:extLst>
          </p:cNvPr>
          <p:cNvSpPr txBox="1"/>
          <p:nvPr/>
        </p:nvSpPr>
        <p:spPr>
          <a:xfrm>
            <a:off x="1079498" y="1764770"/>
            <a:ext cx="2371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missioner"/>
              </a:rPr>
              <a:t>Benefits heavily outweigh costs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2654BB-16DB-8FC3-4938-2C39CF8114A2}"/>
              </a:ext>
            </a:extLst>
          </p:cNvPr>
          <p:cNvSpPr txBox="1"/>
          <p:nvPr/>
        </p:nvSpPr>
        <p:spPr>
          <a:xfrm>
            <a:off x="699814" y="4003965"/>
            <a:ext cx="3023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missioner"/>
              </a:rPr>
              <a:t>MILP was very easy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35A2AE-0F61-A0EB-D608-4E4E765C9D88}"/>
              </a:ext>
            </a:extLst>
          </p:cNvPr>
          <p:cNvSpPr txBox="1"/>
          <p:nvPr/>
        </p:nvSpPr>
        <p:spPr>
          <a:xfrm>
            <a:off x="8542553" y="2233485"/>
            <a:ext cx="3023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missioner"/>
              </a:rPr>
              <a:t>Slack in budget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65417F-19FB-57EE-5E66-022A71D76463}"/>
              </a:ext>
            </a:extLst>
          </p:cNvPr>
          <p:cNvSpPr txBox="1"/>
          <p:nvPr/>
        </p:nvSpPr>
        <p:spPr>
          <a:xfrm>
            <a:off x="8413598" y="5374485"/>
            <a:ext cx="3023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missioner"/>
              </a:rPr>
              <a:t>Fleet constraints binding (across all time blocks)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DC2DF9C-67EB-D5C8-D985-47DBDF838117}"/>
              </a:ext>
            </a:extLst>
          </p:cNvPr>
          <p:cNvCxnSpPr>
            <a:cxnSpLocks/>
          </p:cNvCxnSpPr>
          <p:nvPr/>
        </p:nvCxnSpPr>
        <p:spPr>
          <a:xfrm flipV="1">
            <a:off x="3046286" y="1931875"/>
            <a:ext cx="844062" cy="141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426E8A-2AF4-72D0-5C20-C07D19B3D273}"/>
              </a:ext>
            </a:extLst>
          </p:cNvPr>
          <p:cNvCxnSpPr>
            <a:stCxn id="28" idx="1"/>
          </p:cNvCxnSpPr>
          <p:nvPr/>
        </p:nvCxnSpPr>
        <p:spPr>
          <a:xfrm flipH="1">
            <a:off x="7356888" y="2433540"/>
            <a:ext cx="1185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49F338-8FFF-53AE-98D9-D190060A94BC}"/>
              </a:ext>
            </a:extLst>
          </p:cNvPr>
          <p:cNvCxnSpPr>
            <a:endCxn id="27" idx="3"/>
          </p:cNvCxnSpPr>
          <p:nvPr/>
        </p:nvCxnSpPr>
        <p:spPr>
          <a:xfrm>
            <a:off x="2860431" y="4204020"/>
            <a:ext cx="8624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155E3B-5A9E-3AD3-6AEF-316B8EB40E20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7541198" y="5728428"/>
            <a:ext cx="872400" cy="12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665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6785-6606-1678-F049-1908517FC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AF2960-A8C9-285A-C894-CEFA3AA9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262826"/>
            <a:ext cx="10515600" cy="1009826"/>
          </a:xfrm>
        </p:spPr>
        <p:txBody>
          <a:bodyPr/>
          <a:lstStyle/>
          <a:p>
            <a:r>
              <a:rPr lang="en-US" sz="5400"/>
              <a:t>Sensitivity Analysis: Constraints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0AF5A2-25AE-EFA4-A3BB-F226ABFFA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19" y="3014202"/>
            <a:ext cx="8125959" cy="20386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E73AF1-A2B8-B8D0-8869-ED3582322790}"/>
              </a:ext>
            </a:extLst>
          </p:cNvPr>
          <p:cNvSpPr/>
          <p:nvPr/>
        </p:nvSpPr>
        <p:spPr>
          <a:xfrm>
            <a:off x="8023860" y="3014201"/>
            <a:ext cx="1426846" cy="494809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74D0B2-C0C9-B836-381C-1719052F90FB}"/>
              </a:ext>
            </a:extLst>
          </p:cNvPr>
          <p:cNvSpPr/>
          <p:nvPr/>
        </p:nvSpPr>
        <p:spPr>
          <a:xfrm>
            <a:off x="4168141" y="3759145"/>
            <a:ext cx="1101089" cy="512930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8995C-844B-3B95-0768-5DDA4C8B4B8F}"/>
              </a:ext>
            </a:extLst>
          </p:cNvPr>
          <p:cNvSpPr/>
          <p:nvPr/>
        </p:nvSpPr>
        <p:spPr>
          <a:xfrm>
            <a:off x="2827020" y="4497301"/>
            <a:ext cx="784860" cy="451889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6AAC5-FEEC-944F-1D22-A0B0F846B34A}"/>
              </a:ext>
            </a:extLst>
          </p:cNvPr>
          <p:cNvSpPr/>
          <p:nvPr/>
        </p:nvSpPr>
        <p:spPr>
          <a:xfrm>
            <a:off x="6095998" y="4497300"/>
            <a:ext cx="784860" cy="451889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58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8C81-470E-D022-4C34-75A0C84D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Notes on Fleet Estimation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9D2FC-60E9-E903-CEB9-8BEA273F4088}"/>
              </a:ext>
            </a:extLst>
          </p:cNvPr>
          <p:cNvSpPr txBox="1"/>
          <p:nvPr/>
        </p:nvSpPr>
        <p:spPr>
          <a:xfrm>
            <a:off x="1256480" y="3173905"/>
            <a:ext cx="9416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ommissioner"/>
              </a:rPr>
              <a:t>As a baseline: </a:t>
            </a:r>
            <a:endParaRPr lang="en-US" sz="2000">
              <a:latin typeface="Commissioner"/>
            </a:endParaRPr>
          </a:p>
          <a:p>
            <a:endParaRPr lang="en-US" sz="2000" dirty="0">
              <a:latin typeface="Commission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CCFE95-5CE0-0985-55C6-F3F5414B4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842" y="3638277"/>
            <a:ext cx="1886213" cy="5906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FDBB84-3C50-D721-F414-BC7177C8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415" y="5274844"/>
            <a:ext cx="2048161" cy="7716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511DF8F-94A0-BFB2-AF08-834D4E2EB094}"/>
              </a:ext>
            </a:extLst>
          </p:cNvPr>
          <p:cNvSpPr txBox="1"/>
          <p:nvPr/>
        </p:nvSpPr>
        <p:spPr>
          <a:xfrm>
            <a:off x="1103602" y="4417283"/>
            <a:ext cx="5749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Commissioner"/>
              </a:rPr>
              <a:t>Then, we can introduce an expansion factor to represent increases to this fleet since 2023: </a:t>
            </a:r>
            <a:endParaRPr lang="en-US" sz="2000">
              <a:latin typeface="Commission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E0487-B3B9-255B-0E93-7CE9A8D3E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459" y="2198665"/>
            <a:ext cx="3848637" cy="74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496F2-0247-C082-DB2C-DFAEF3DD3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195" y="3729756"/>
            <a:ext cx="915636" cy="4001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E8DE45-5D46-A32E-1D1F-EC546F12DC34}"/>
              </a:ext>
            </a:extLst>
          </p:cNvPr>
          <p:cNvSpPr/>
          <p:nvPr/>
        </p:nvSpPr>
        <p:spPr>
          <a:xfrm>
            <a:off x="1553841" y="2211174"/>
            <a:ext cx="3721543" cy="74305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0F9D-2B3B-F6F5-29EF-95E00CFC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5D96-4A09-9520-86C9-8ABA63D58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Notes on Fleet 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C056B-EA34-1CAE-E6E2-C7E4A2672B8D}"/>
              </a:ext>
            </a:extLst>
          </p:cNvPr>
          <p:cNvSpPr txBox="1"/>
          <p:nvPr/>
        </p:nvSpPr>
        <p:spPr>
          <a:xfrm>
            <a:off x="846306" y="1763916"/>
            <a:ext cx="83074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missioner"/>
              </a:rPr>
              <a:t>We have also defined a maximum allowed change in buses. </a:t>
            </a:r>
          </a:p>
          <a:p>
            <a:endParaRPr lang="en-US" sz="2000" dirty="0">
              <a:latin typeface="Commissioner"/>
            </a:endParaRPr>
          </a:p>
          <a:p>
            <a:endParaRPr lang="en-US" sz="2000" dirty="0">
              <a:latin typeface="Commissioner"/>
            </a:endParaRPr>
          </a:p>
          <a:p>
            <a:endParaRPr lang="en-US" sz="2000" dirty="0">
              <a:latin typeface="Commissioner"/>
            </a:endParaRPr>
          </a:p>
          <a:p>
            <a:r>
              <a:rPr lang="en-US" sz="2000" dirty="0">
                <a:latin typeface="Commissioner"/>
              </a:rPr>
              <a:t>Without this –&gt; many routes outright canceled (as the routes in highest demand are assigned MANY buses): </a:t>
            </a:r>
          </a:p>
          <a:p>
            <a:endParaRPr lang="en-US" sz="2000" dirty="0">
              <a:latin typeface="Commissioner"/>
            </a:endParaRPr>
          </a:p>
          <a:p>
            <a:endParaRPr lang="en-US" sz="2000" dirty="0">
              <a:latin typeface="Commissioner"/>
            </a:endParaRPr>
          </a:p>
          <a:p>
            <a:endParaRPr lang="en-US" sz="2000" dirty="0">
              <a:latin typeface="Commissioner"/>
            </a:endParaRPr>
          </a:p>
          <a:p>
            <a:endParaRPr lang="en-US" sz="2000" dirty="0">
              <a:latin typeface="Commissioner"/>
            </a:endParaRPr>
          </a:p>
          <a:p>
            <a:endParaRPr lang="en-US" sz="2000" dirty="0">
              <a:latin typeface="Commission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95F96-1219-8576-43C3-2F69FD6D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06" y="2278778"/>
            <a:ext cx="6335009" cy="523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A0419-83C6-C14C-D036-AA9B19C0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67" y="3783987"/>
            <a:ext cx="7344383" cy="29156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5971A5-CA54-0C45-7807-A19A013AC3E1}"/>
              </a:ext>
            </a:extLst>
          </p:cNvPr>
          <p:cNvSpPr/>
          <p:nvPr/>
        </p:nvSpPr>
        <p:spPr>
          <a:xfrm>
            <a:off x="846307" y="2211174"/>
            <a:ext cx="4182893" cy="74305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6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1667-930C-9B1E-370E-487BCB2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A4F7358-D552-2F85-3842-8C49D43E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4" y="92154"/>
            <a:ext cx="6335009" cy="523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FC2990-F500-872D-63D2-3C3776A1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Fleet Scenarios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58B110-F4F4-5477-EE84-120AC0E85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67" y="2247090"/>
            <a:ext cx="5628347" cy="33576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9DEF3E1-4F2E-2352-B393-AC3F1260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52" y="2247090"/>
            <a:ext cx="5628346" cy="335765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4FA436-43B2-1551-13E6-D51943F156D2}"/>
              </a:ext>
            </a:extLst>
          </p:cNvPr>
          <p:cNvSpPr txBox="1"/>
          <p:nvPr/>
        </p:nvSpPr>
        <p:spPr>
          <a:xfrm>
            <a:off x="695181" y="5731208"/>
            <a:ext cx="515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Δ</a:t>
            </a:r>
            <a:r>
              <a:rPr lang="en-US" dirty="0"/>
              <a:t>n_new =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B68C10-38E2-D493-3E68-046D8A274860}"/>
              </a:ext>
            </a:extLst>
          </p:cNvPr>
          <p:cNvSpPr txBox="1"/>
          <p:nvPr/>
        </p:nvSpPr>
        <p:spPr>
          <a:xfrm>
            <a:off x="6333931" y="5731208"/>
            <a:ext cx="515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Δ</a:t>
            </a:r>
            <a:r>
              <a:rPr lang="en-US" dirty="0"/>
              <a:t>n_new = 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AF394-DF8F-9B2E-F6C7-956A06D89E22}"/>
              </a:ext>
            </a:extLst>
          </p:cNvPr>
          <p:cNvSpPr txBox="1"/>
          <p:nvPr/>
        </p:nvSpPr>
        <p:spPr>
          <a:xfrm>
            <a:off x="555751" y="1650023"/>
            <a:ext cx="1058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Within our target subset, we consistently use our headroom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2057C-CD70-7970-0349-5A630FA85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81" y="5661227"/>
            <a:ext cx="762106" cy="44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150AAB-27B9-DD1C-41F7-2C73C277A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404" y="5661226"/>
            <a:ext cx="762106" cy="4477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BF5E9E-754D-B947-F5B9-1B8044C8FD2C}"/>
              </a:ext>
            </a:extLst>
          </p:cNvPr>
          <p:cNvSpPr/>
          <p:nvPr/>
        </p:nvSpPr>
        <p:spPr>
          <a:xfrm>
            <a:off x="208849" y="5554011"/>
            <a:ext cx="2159214" cy="74305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4FA4E-A414-3C1F-B4D0-BF08C7E56D1F}"/>
              </a:ext>
            </a:extLst>
          </p:cNvPr>
          <p:cNvSpPr/>
          <p:nvPr/>
        </p:nvSpPr>
        <p:spPr>
          <a:xfrm>
            <a:off x="6095968" y="5554011"/>
            <a:ext cx="1793664" cy="74305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AEE2AC-5B07-0445-61A8-929A2B7E795B}"/>
              </a:ext>
            </a:extLst>
          </p:cNvPr>
          <p:cNvSpPr/>
          <p:nvPr/>
        </p:nvSpPr>
        <p:spPr>
          <a:xfrm>
            <a:off x="0" y="5982"/>
            <a:ext cx="4182893" cy="743054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50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EC9F-13B7-C484-385F-BD443E39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Budget Sensitivity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AA473-C762-605F-9910-4633917B8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7" y="1473068"/>
            <a:ext cx="9231921" cy="55074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E1F8B7-3D23-FE07-920D-F22B92C51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20" y="2628899"/>
            <a:ext cx="4091940" cy="2148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51E2F9-DCD6-ADFC-519C-C8FAB9B51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780" y="2937186"/>
            <a:ext cx="2489443" cy="1515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5CD7D5-E0C5-74F2-299F-5B9E41AAA8D8}"/>
                  </a:ext>
                </a:extLst>
              </p14:cNvPr>
              <p14:cNvContentPartPr/>
              <p14:nvPr/>
            </p14:nvContentPartPr>
            <p14:xfrm>
              <a:off x="991370" y="5938564"/>
              <a:ext cx="3459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5CD7D5-E0C5-74F2-299F-5B9E41AAA8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7370" y="5830564"/>
                <a:ext cx="4536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DB1915A-5A3A-A6B3-2ED5-DB1F6B6C1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258" y="2864645"/>
            <a:ext cx="1396522" cy="1609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13E2A7-4D24-42F2-73B3-EC366637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352" y="1770712"/>
            <a:ext cx="1867161" cy="16925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8AC69A-D6E0-E96E-E211-37991DF8F566}"/>
              </a:ext>
            </a:extLst>
          </p:cNvPr>
          <p:cNvSpPr txBox="1"/>
          <p:nvPr/>
        </p:nvSpPr>
        <p:spPr>
          <a:xfrm>
            <a:off x="9890760" y="4716695"/>
            <a:ext cx="228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change above ~$10,000. Fully bound by fleet constraints. 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619A7E5-C19A-3616-4C43-902AC51FE4C0}"/>
              </a:ext>
            </a:extLst>
          </p:cNvPr>
          <p:cNvCxnSpPr>
            <a:cxnSpLocks/>
            <a:stCxn id="17" idx="0"/>
          </p:cNvCxnSpPr>
          <p:nvPr/>
        </p:nvCxnSpPr>
        <p:spPr>
          <a:xfrm rot="16200000" flipV="1">
            <a:off x="10644421" y="4327356"/>
            <a:ext cx="565319" cy="213360"/>
          </a:xfrm>
          <a:prstGeom prst="bentConnector3">
            <a:avLst>
              <a:gd name="adj1" fmla="val 996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882B72B-2CF0-6A12-6D5A-2EA60E727B9D}"/>
              </a:ext>
            </a:extLst>
          </p:cNvPr>
          <p:cNvSpPr txBox="1"/>
          <p:nvPr/>
        </p:nvSpPr>
        <p:spPr>
          <a:xfrm>
            <a:off x="9906000" y="2093781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Fleet becomes non-binding at around $0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D13279-9AE5-44F1-7E32-67ABDFF8F4F8}"/>
              </a:ext>
            </a:extLst>
          </p:cNvPr>
          <p:cNvCxnSpPr>
            <a:cxnSpLocks/>
          </p:cNvCxnSpPr>
          <p:nvPr/>
        </p:nvCxnSpPr>
        <p:spPr>
          <a:xfrm rot="5400000">
            <a:off x="10381397" y="3056005"/>
            <a:ext cx="1298577" cy="420569"/>
          </a:xfrm>
          <a:prstGeom prst="bentConnector3">
            <a:avLst>
              <a:gd name="adj1" fmla="val 992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5C1EE24-39F0-00F0-AA0E-B45638C6C2C2}"/>
                  </a:ext>
                </a:extLst>
              </p14:cNvPr>
              <p14:cNvContentPartPr/>
              <p14:nvPr/>
            </p14:nvContentPartPr>
            <p14:xfrm>
              <a:off x="10235520" y="3878280"/>
              <a:ext cx="3711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5C1EE24-39F0-00F0-AA0E-B45638C6C2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81880" y="3770280"/>
                <a:ext cx="478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FCBCEF5-20A0-8333-CC90-D4F2F7DEDF4B}"/>
                  </a:ext>
                </a:extLst>
              </p14:cNvPr>
              <p14:cNvContentPartPr/>
              <p14:nvPr/>
            </p14:nvContentPartPr>
            <p14:xfrm>
              <a:off x="10242720" y="3704040"/>
              <a:ext cx="363960" cy="29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FCBCEF5-20A0-8333-CC90-D4F2F7DEDF4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89080" y="3596040"/>
                <a:ext cx="471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AB225AE-B838-308A-2A23-88ED5F7C003B}"/>
                  </a:ext>
                </a:extLst>
              </p14:cNvPr>
              <p14:cNvContentPartPr/>
              <p14:nvPr/>
            </p14:nvContentPartPr>
            <p14:xfrm>
              <a:off x="10239840" y="3514680"/>
              <a:ext cx="428400" cy="28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AB225AE-B838-308A-2A23-88ED5F7C00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85840" y="3407040"/>
                <a:ext cx="5360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892C0B8-DB7E-6DFA-04D2-E32467375C4A}"/>
                  </a:ext>
                </a:extLst>
              </p14:cNvPr>
              <p14:cNvContentPartPr/>
              <p14:nvPr/>
            </p14:nvContentPartPr>
            <p14:xfrm>
              <a:off x="10214280" y="3337200"/>
              <a:ext cx="385200" cy="622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892C0B8-DB7E-6DFA-04D2-E32467375C4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60280" y="3229200"/>
                <a:ext cx="4928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5D95E42-289F-CFD5-10CF-5A2ECCA06379}"/>
                  </a:ext>
                </a:extLst>
              </p14:cNvPr>
              <p14:cNvContentPartPr/>
              <p14:nvPr/>
            </p14:nvContentPartPr>
            <p14:xfrm>
              <a:off x="8633160" y="3351960"/>
              <a:ext cx="442440" cy="86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5D95E42-289F-CFD5-10CF-5A2ECCA0637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79160" y="3243960"/>
                <a:ext cx="5500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015E848-70F5-A4CA-DCD5-4560F5842E7C}"/>
                  </a:ext>
                </a:extLst>
              </p14:cNvPr>
              <p14:cNvContentPartPr/>
              <p14:nvPr/>
            </p14:nvContentPartPr>
            <p14:xfrm>
              <a:off x="8708400" y="3519360"/>
              <a:ext cx="374760" cy="9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015E848-70F5-A4CA-DCD5-4560F5842E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54400" y="3411360"/>
                <a:ext cx="482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33CD628-2180-2D1F-01CE-284A97156D08}"/>
                  </a:ext>
                </a:extLst>
              </p14:cNvPr>
              <p14:cNvContentPartPr/>
              <p14:nvPr/>
            </p14:nvContentPartPr>
            <p14:xfrm>
              <a:off x="8557920" y="3733560"/>
              <a:ext cx="502560" cy="7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33CD628-2180-2D1F-01CE-284A97156D0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03920" y="3625560"/>
                <a:ext cx="6102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730A6D-94C0-0937-BA88-D7EDFB7DE819}"/>
                  </a:ext>
                </a:extLst>
              </p14:cNvPr>
              <p14:cNvContentPartPr/>
              <p14:nvPr/>
            </p14:nvContentPartPr>
            <p14:xfrm>
              <a:off x="8600760" y="3901320"/>
              <a:ext cx="474840" cy="23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730A6D-94C0-0937-BA88-D7EDFB7DE81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47120" y="3793320"/>
                <a:ext cx="582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B2D1941-7940-1622-88AA-96E9C548CC06}"/>
                  </a:ext>
                </a:extLst>
              </p14:cNvPr>
              <p14:cNvContentPartPr/>
              <p14:nvPr/>
            </p14:nvContentPartPr>
            <p14:xfrm>
              <a:off x="10324080" y="4154040"/>
              <a:ext cx="313560" cy="6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B2D1941-7940-1622-88AA-96E9C548CC0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70080" y="4046400"/>
                <a:ext cx="421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E14FA49-231E-B816-3588-92379054DC49}"/>
                  </a:ext>
                </a:extLst>
              </p14:cNvPr>
              <p14:cNvContentPartPr/>
              <p14:nvPr/>
            </p14:nvContentPartPr>
            <p14:xfrm>
              <a:off x="10340280" y="4289400"/>
              <a:ext cx="289800" cy="162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E14FA49-231E-B816-3588-92379054DC4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86280" y="4181760"/>
                <a:ext cx="3974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36E384A-7F0E-0375-AF1F-F6EC36C06F39}"/>
                  </a:ext>
                </a:extLst>
              </p14:cNvPr>
              <p14:cNvContentPartPr/>
              <p14:nvPr/>
            </p14:nvContentPartPr>
            <p14:xfrm>
              <a:off x="8627760" y="4115880"/>
              <a:ext cx="379080" cy="7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36E384A-7F0E-0375-AF1F-F6EC36C06F3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73760" y="4007880"/>
                <a:ext cx="486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C4B842B-25B8-A79B-E3AB-7218BDE6287E}"/>
                  </a:ext>
                </a:extLst>
              </p14:cNvPr>
              <p14:cNvContentPartPr/>
              <p14:nvPr/>
            </p14:nvContentPartPr>
            <p14:xfrm>
              <a:off x="8649000" y="4282200"/>
              <a:ext cx="434160" cy="392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C4B842B-25B8-A79B-E3AB-7218BDE6287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95360" y="4174200"/>
                <a:ext cx="541800" cy="254880"/>
              </a:xfrm>
              <a:prstGeom prst="rect">
                <a:avLst/>
              </a:prstGeom>
            </p:spPr>
          </p:pic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44834A6C-D9AD-08D8-643F-ADAD22608F0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34919"/>
            <a:ext cx="6561766" cy="7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3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27A385-D92E-554A-4DA5-84E6E111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Budget Sensitivity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27AB9-E5A0-9E7E-05F6-7933717F3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Budget is non-binding after ~$10,300.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It takes a substantial budget decrease or a high expansion factor to see meaningfully different results.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Let’s see if our model parameters are sensitive.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23EFC1-38B3-D725-2F21-D096A98B1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369" y="2436028"/>
            <a:ext cx="4143953" cy="914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6C102-735C-05D3-8C79-5DC05E244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" y="23809"/>
            <a:ext cx="6561766" cy="7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5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C7C333-53FB-A466-56B2-4DFE9524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9174"/>
            <a:ext cx="10515600" cy="1009826"/>
          </a:xfrm>
        </p:spPr>
        <p:txBody>
          <a:bodyPr/>
          <a:lstStyle/>
          <a:p>
            <a:r>
              <a:rPr lang="en-US" sz="5400"/>
              <a:t>Sensitivity Analysis: Parameters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D39658B-EF92-F445-3F18-38F26EFB6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30777"/>
              </p:ext>
            </p:extLst>
          </p:nvPr>
        </p:nvGraphicFramePr>
        <p:xfrm>
          <a:off x="1092200" y="3429000"/>
          <a:ext cx="10261600" cy="9144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1807728945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69555697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865175566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33516008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3502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433747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87515640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4272376437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355021833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92259755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Driver horuly wage rate $/hr (W_driver)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Price of fuel $/litre (P_fuel)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Fuel consumption (FC)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Maintenace cost $/km (P_maintenance)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Passenger hourly wage rate $/hr (W_passenger)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VTTS fraction of passenger wage (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F_wage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Emission intensity of a car kgCO2eq/KPT (I_GHG,car)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Length of passenger trip (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L_avg_trip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Social cost of carbon $/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tonne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CO2eq (SCC)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Vehicle-miles saved per 1 km  of passenger km travelled (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V_km,saved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469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709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0894C-4E68-9A24-D09F-77CD9288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6289B6-0D1C-62C0-AE11-57CE172F5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447AC1-1B64-7BBC-DC60-E4331DFF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447489" cy="3249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8CEB71-F4CA-082C-05AE-0A250483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490" y="-2150"/>
            <a:ext cx="5447488" cy="32497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96E592-C4EC-72FB-A716-EDA8038C3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247617"/>
            <a:ext cx="5447489" cy="32497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CC6709-8AA4-2312-4D54-C60A7CFF2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090" y="3247614"/>
            <a:ext cx="5443888" cy="324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60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E86D-1EC2-649E-119C-27D330F1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A23DE8-F662-E39C-67AF-7AC3ED50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547E09-78F7-69D5-2141-EBCA7BE70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FA0E07-E3E2-5303-261A-A41A68B7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447489" cy="32497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D0875FE-5A37-E251-1C36-866914810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3887" cy="3247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9D625B-F133-C54B-5D5A-EE77D358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887" y="0"/>
            <a:ext cx="5443887" cy="32476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2B1DC6-C419-C6F7-D780-0BD4516EC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47617"/>
            <a:ext cx="5443887" cy="32476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3ED7C4-651B-FD75-4A65-2FE5923B9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887" y="3247617"/>
            <a:ext cx="5443886" cy="324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67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C70E-472F-34B7-716B-C3B6C599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8410F1-BA13-4CE8-DE7E-334140A4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447489" cy="32497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89EC2A-CBB0-A9EF-0E8B-D2959BC08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3887" cy="3247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58ADD-29A3-2BC8-8E20-8579F1B52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43887" cy="3247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D7DC39-BE16-F097-6F62-6E4AC2588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47617"/>
            <a:ext cx="5443887" cy="324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04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B66A-86DC-6431-254C-6611D4424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FBB6F8-D157-DA60-9798-6341C069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47" y="627533"/>
            <a:ext cx="10521120" cy="733200"/>
          </a:xfrm>
        </p:spPr>
        <p:txBody>
          <a:bodyPr/>
          <a:lstStyle/>
          <a:p>
            <a:r>
              <a:rPr lang="en-US" sz="5400"/>
              <a:t>Sensitivity Analysis: Conclusions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AD8FC6-23F6-D973-7832-C9B9D5A3C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847" y="2171616"/>
            <a:ext cx="10622604" cy="3610748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Consistently, Carleton routes show improved bus frequency (barring Route 48 which suffers). Especially during Midday and PM Peak hours. 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Our </a:t>
            </a:r>
            <a:r>
              <a:rPr lang="en-US" sz="2000" b="1" dirty="0"/>
              <a:t>linearization</a:t>
            </a:r>
            <a:r>
              <a:rPr lang="en-US" sz="2000" dirty="0"/>
              <a:t> skews the result, as it does not capture diminishing returns in ridership for large increases in bus frequency. 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We ARE bound by our </a:t>
            </a:r>
            <a:r>
              <a:rPr lang="en-US" sz="2000" b="1" dirty="0"/>
              <a:t>fleet constraints</a:t>
            </a:r>
            <a:r>
              <a:rPr lang="en-US" sz="2000" dirty="0"/>
              <a:t>. </a:t>
            </a:r>
          </a:p>
          <a:p>
            <a:pPr marL="139700" indent="0" algn="l"/>
            <a:endParaRPr lang="en-US" sz="20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Results are insensitive to </a:t>
            </a:r>
            <a:r>
              <a:rPr lang="en-US" sz="2000" b="1" dirty="0"/>
              <a:t>budget constraints</a:t>
            </a:r>
            <a:endParaRPr lang="en-US" sz="2000" dirty="0"/>
          </a:p>
          <a:p>
            <a:pPr marL="139700" indent="0" algn="l"/>
            <a:endParaRPr lang="en-US" sz="20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Results are generally insensitive to cost and benefit </a:t>
            </a:r>
            <a:r>
              <a:rPr lang="en-US" sz="2000" b="1" dirty="0"/>
              <a:t>parameters</a:t>
            </a:r>
            <a:r>
              <a:rPr lang="en-US" sz="2000" dirty="0"/>
              <a:t> within target time block. 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28387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BC39-0572-3156-D7ED-A66E482F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4587-F220-F65E-5CE6-CC5FF7CB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Questions?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4FEEB-A22D-60DF-D4DD-A6E32EC7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67" y="1603358"/>
            <a:ext cx="9992832" cy="495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14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3CA9-F694-07C2-E25E-20345410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Questions?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8ABFF-AC41-37BE-D263-E033DBBC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856" y="1678789"/>
            <a:ext cx="9202287" cy="438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93720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b2e00ae-3c91-49e8-a9b9-796f3c8fdf3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FAE4A8D4D2D84C9DF50408485B66C3" ma:contentTypeVersion="5" ma:contentTypeDescription="Create a new document." ma:contentTypeScope="" ma:versionID="2c8ea14bfe2f763d8cad99aff194bc45">
  <xsd:schema xmlns:xsd="http://www.w3.org/2001/XMLSchema" xmlns:xs="http://www.w3.org/2001/XMLSchema" xmlns:p="http://schemas.microsoft.com/office/2006/metadata/properties" xmlns:ns3="3b2e00ae-3c91-49e8-a9b9-796f3c8fdf35" targetNamespace="http://schemas.microsoft.com/office/2006/metadata/properties" ma:root="true" ma:fieldsID="f97bdb038bbdbaf7b18fc0e1e8fb786d" ns3:_="">
    <xsd:import namespace="3b2e00ae-3c91-49e8-a9b9-796f3c8fdf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e00ae-3c91-49e8-a9b9-796f3c8fdf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212544-4A99-4888-A618-0ACEB54B9CFB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3b2e00ae-3c91-49e8-a9b9-796f3c8fdf3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60F678-00C3-40CE-A0D4-36DF6AD6B4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DFB03C-0834-43D6-B66F-631C36F304FB}">
  <ds:schemaRefs>
    <ds:schemaRef ds:uri="3b2e00ae-3c91-49e8-a9b9-796f3c8fdf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Formulating a Research Problem for University Students by Slidesgo (1)</Template>
  <TotalTime>1005</TotalTime>
  <Words>940</Words>
  <Application>Microsoft Office PowerPoint</Application>
  <PresentationFormat>Widescreen</PresentationFormat>
  <Paragraphs>151</Paragraphs>
  <Slides>26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Aptos</vt:lpstr>
      <vt:lpstr>Aptos Narrow</vt:lpstr>
      <vt:lpstr>Arial</vt:lpstr>
      <vt:lpstr>Chivo</vt:lpstr>
      <vt:lpstr>Commissioner</vt:lpstr>
      <vt:lpstr>Golos Text</vt:lpstr>
      <vt:lpstr>Golos Text SemiBold</vt:lpstr>
      <vt:lpstr>Proxima Nova</vt:lpstr>
      <vt:lpstr>Red Hat Display</vt:lpstr>
      <vt:lpstr>Formulating a Research Problem for University Students by Slidesgo</vt:lpstr>
      <vt:lpstr>Slidesgo Final Pages</vt:lpstr>
      <vt:lpstr>OC Transpo Bus Allocation Optimization</vt:lpstr>
      <vt:lpstr>Motivation</vt:lpstr>
      <vt:lpstr>Objectives</vt:lpstr>
      <vt:lpstr>PowerPoint Presentation</vt:lpstr>
      <vt:lpstr>Data Sources </vt:lpstr>
      <vt:lpstr>PowerPoint Presentation</vt:lpstr>
      <vt:lpstr>PowerPoint Presentation</vt:lpstr>
      <vt:lpstr>Linear Approximation</vt:lpstr>
      <vt:lpstr>Global Minimization Formulation</vt:lpstr>
      <vt:lpstr>Solution Scope</vt:lpstr>
      <vt:lpstr>Results: Target Subset</vt:lpstr>
      <vt:lpstr>Results: Cancelled Routes</vt:lpstr>
      <vt:lpstr>Results: Some Diagnostics</vt:lpstr>
      <vt:lpstr>Sensitivity Analysis: Constraints</vt:lpstr>
      <vt:lpstr>Notes on Fleet Estimation</vt:lpstr>
      <vt:lpstr>Notes on Fleet Estimation</vt:lpstr>
      <vt:lpstr>Fleet Scenarios</vt:lpstr>
      <vt:lpstr>Budget Sensitivity </vt:lpstr>
      <vt:lpstr>Budget Sensitivity </vt:lpstr>
      <vt:lpstr>Sensitivity Analysis: Parameters</vt:lpstr>
      <vt:lpstr>PowerPoint Presentation</vt:lpstr>
      <vt:lpstr>PowerPoint Presentation</vt:lpstr>
      <vt:lpstr>PowerPoint Presentation</vt:lpstr>
      <vt:lpstr>Sensitivity Analysis: Conclusions</vt:lpstr>
      <vt:lpstr>Questions? 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Mcconkey</dc:creator>
  <cp:lastModifiedBy>Joseph Mcconkey</cp:lastModifiedBy>
  <cp:revision>1</cp:revision>
  <dcterms:created xsi:type="dcterms:W3CDTF">2026-03-27T17:29:00Z</dcterms:created>
  <dcterms:modified xsi:type="dcterms:W3CDTF">2026-04-09T14:41:18Z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0x01010005FAE4A8D4D2D84C9DF50408485B66C3</vt:lpwstr>
  </property>
</Properties>
</file>